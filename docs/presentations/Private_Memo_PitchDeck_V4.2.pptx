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AI-HARDWARE/lab/android/README.md, sections 1–4</a:t>
            </a:r>
          </a:p>
          <a:p>
            <a:r>
              <a:t>- AI-HARDWARE/docs/research/调研报告.md, section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sections 1–2</a:t>
            </a:r>
          </a:p>
          <a:p>
            <a:r>
              <a:t>- AI-HARDWARE/lab/android/README.md, sections 1–3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 1</a:t>
            </a:r>
          </a:p>
          <a:p>
            <a:r>
              <a:t>- AI-HARDWARE/lab/android/README.md, section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sections 1, 3, 9</a:t>
            </a:r>
          </a:p>
          <a:p>
            <a:r>
              <a:t>- Validation numbers on this slide are targets, not achieved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AI-HARDWARE/lab/android/README.md, sections 2, 3,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AI-HARDWARE/lab/android/README.md, sections 4, 8</a:t>
            </a:r>
          </a:p>
          <a:p>
            <a:r>
              <a:t>- AI-HARDWARE/lab/android/results/device/REPORT.md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AI-HARDWARE/lab/android/README.md, sections 2, 3, 9</a:t>
            </a:r>
          </a:p>
          <a:p>
            <a:r>
              <a:t>- AI-HARDWARE/web3/src/MemoryRegistry.sol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AI-HARDWARE/docs/architecture/assets/private-memo-three-views-v1.png</a:t>
            </a:r>
          </a:p>
          <a:p>
            <a:r>
              <a:t>- AI-HARDWARE/lab/android/README.md, hardware migration and validation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 2</a:t>
            </a:r>
          </a:p>
          <a:p>
            <a:r>
              <a:t>- AI-HARDWARE/lab/android/README.md, sections 9–12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AI-HARDWARE/lab/android/README.md, section 4.2</a:t>
            </a:r>
          </a:p>
          <a:p>
            <a:r>
              <a:t>- AI-HARDWARE/lab/android/results/device/benchmark-3models-3rounds.json</a:t>
            </a:r>
          </a:p>
          <a:p>
            <a:r>
              <a:t>- AI-HARDWARE/lab/android/results/device/REPORT.md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 2</a:t>
            </a:r>
          </a:p>
          <a:p>
            <a:r>
              <a:t>- Competitor facts are retained only as archived research context and require re-verification before external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sections 1–2</a:t>
            </a:r>
          </a:p>
          <a:p>
            <a:r>
              <a:t>- AI-HARDWARE/lab/android/README.md, sections 2–3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sections 10–11</a:t>
            </a:r>
          </a:p>
          <a:p>
            <a:r>
              <a:t>- https://docs.token.im/dapp-sdk/en/</a:t>
            </a:r>
          </a:p>
          <a:p>
            <a:r>
              <a:t>- https://eips.ethereum.org/EIPS/eip-1193</a:t>
            </a:r>
          </a:p>
          <a:p>
            <a:r>
              <a:t>- https://eips.ethereum.org/EIPS/eip-712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 3</a:t>
            </a:r>
          </a:p>
          <a:p>
            <a:r>
              <a:t>- Pricing, BOM and margin values from the prior deck are explicitly treated as unvalidated.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sections 5.3 and 9</a:t>
            </a:r>
          </a:p>
          <a:p>
            <a:r>
              <a:t>- AI-HARDWARE/lab/android/README.md, section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AI-HARDWARE/docs/research/调研报告.md, sections 4, 9, 10</a:t>
            </a:r>
          </a:p>
          <a:p>
            <a:r>
              <a:t>- AI-HARDWARE/lab/android/README.md, sections 11–12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https://genio.mediatek.com/doc/android/qsg/qsg_genio_700_intro.html</a:t>
            </a:r>
          </a:p>
          <a:p>
            <a:r>
              <a:t>- https://genio.mediatek.com/genio-700</a:t>
            </a:r>
          </a:p>
          <a:p>
            <a:r>
              <a:t>- https://dl.radxa.com/zero3/docs/hw/3w/radxa_zero_3w_product_brief_Revision_1.8.pdf</a:t>
            </a:r>
          </a:p>
          <a:p>
            <a:r>
              <a:t>- https://dl.radxa.com/rock4/4d/docs/radxa_rock4d_product_brief.pdf</a:t>
            </a:r>
          </a:p>
          <a:p>
            <a:r>
              <a:t>- https://radxa.com/products/rock5/5a/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AI-HARDWARE/lab/android/README.md, sections 2–12</a:t>
            </a:r>
          </a:p>
          <a:p>
            <a:r>
              <a:t>- AI-HARDWARE/docs/research/调研报告.md, section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AI-HARDWARE/lab/android/README.md, sections 11–12</a:t>
            </a:r>
          </a:p>
          <a:p>
            <a:r>
              <a:t>- AI-HARDWARE/docs/research/调研报告.md, section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AI-HARDWARE/docs/research/调研报告.md</a:t>
            </a:r>
          </a:p>
          <a:p>
            <a:r>
              <a:t>- AI-HARDWARE/lab/android/README.md</a:t>
            </a:r>
          </a:p>
          <a:p>
            <a:r>
              <a:t>- Official model, board and wallet sources listed visibly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11F"/>
            </a:gs>
            <a:gs pos="68000">
              <a:srgbClr val="0B1B32"/>
            </a:gs>
            <a:gs pos="100000">
              <a:srgbClr val="102B3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9966960" y="-868680"/>
            <a:ext cx="3931920" cy="393192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9052560" y="137160"/>
            <a:ext cx="2103120" cy="210312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658368" y="365760"/>
            <a:ext cx="10972800" cy="18288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5" name="Text 3"/>
          <p:cNvSpPr>
            <a:spLocks noGrp="1"/>
          </p:cNvSpPr>
          <p:nvPr/>
        </p:nvSpPr>
        <p:spPr>
          <a:xfrm>
            <a:off x="781050" y="1000125"/>
            <a:ext cx="7239000" cy="8763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PM - Private Memo</a:t>
            </a:r>
            <a:endParaRPr sz="420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 4"/>
          <p:cNvSpPr>
            <a:spLocks noGrp="1"/>
          </p:cNvSpPr>
          <p:nvPr/>
        </p:nvSpPr>
        <p:spPr>
          <a:xfrm>
            <a:off x="800100" y="2000250"/>
            <a:ext cx="6858000" cy="523875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100" b="0" i="0">
                <a:solidFill>
                  <a:srgbClr val="C8D3E6"/>
                </a:solidFill>
              </a:defRPr>
            </a:pPr>
            <a:r>
              <a:rPr sz="2100" b="0" i="0">
                <a:solidFill>
                  <a:srgbClr val="C8D3E6"/>
                </a:solidFill>
                <a:latin typeface="Aptos"/>
                <a:ea typeface="Aptos"/>
                <a:cs typeface="Aptos"/>
              </a:rPr>
              <a:t>离线记录、端侧转写</a:t>
            </a:r>
            <a:r>
              <a:rPr>
                <a:latin typeface="Aptos"/>
                <a:ea typeface="Aptos"/>
                <a:cs typeface="Aptos"/>
                <a:sym typeface="+mn-ea"/>
              </a:rPr>
              <a:t>、</a:t>
            </a:r>
            <a:r>
              <a:rPr lang="zh-CN">
                <a:latin typeface="Aptos"/>
                <a:ea typeface="Aptos"/>
                <a:cs typeface="Aptos"/>
                <a:sym typeface="+mn-ea"/>
              </a:rPr>
              <a:t>链上存储</a:t>
            </a:r>
            <a:r>
              <a:rPr sz="2100" b="0" i="0">
                <a:solidFill>
                  <a:srgbClr val="C8D3E6"/>
                </a:solidFill>
                <a:latin typeface="Aptos"/>
                <a:ea typeface="Aptos"/>
                <a:cs typeface="Aptos"/>
              </a:rPr>
              <a:t>、钱包授权恢复</a:t>
            </a:r>
            <a:endParaRPr sz="2100" b="0" i="0">
              <a:solidFill>
                <a:srgbClr val="C8D3E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749808" y="2487168"/>
            <a:ext cx="100584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</a:p>
        </p:txBody>
      </p:sp>
      <p:sp>
        <p:nvSpPr>
          <p:cNvPr id="8" name="Shape 6"/>
          <p:cNvSpPr>
            <a:spLocks noGrp="1"/>
          </p:cNvSpPr>
          <p:nvPr/>
        </p:nvSpPr>
        <p:spPr>
          <a:xfrm>
            <a:off x="742950" y="3667125"/>
            <a:ext cx="6477000" cy="161925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Shape 7"/>
          <p:cNvSpPr>
            <a:spLocks noGrp="1"/>
          </p:cNvSpPr>
          <p:nvPr/>
        </p:nvSpPr>
        <p:spPr>
          <a:xfrm>
            <a:off x="914400" y="3810000"/>
            <a:ext cx="6134100" cy="38100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0" name="Text 8"/>
          <p:cNvSpPr>
            <a:spLocks noGrp="1"/>
          </p:cNvSpPr>
          <p:nvPr/>
        </p:nvSpPr>
        <p:spPr>
          <a:xfrm>
            <a:off x="952500" y="3857625"/>
            <a:ext cx="5905500" cy="3238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一句话</a:t>
            </a:r>
            <a:endParaRPr sz="150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Text 9"/>
          <p:cNvSpPr>
            <a:spLocks noGrp="1"/>
          </p:cNvSpPr>
          <p:nvPr/>
        </p:nvSpPr>
        <p:spPr>
          <a:xfrm>
            <a:off x="952500" y="4267200"/>
            <a:ext cx="5905500" cy="74295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315" b="0" i="0">
                <a:solidFill>
                  <a:srgbClr val="C3D0E0"/>
                </a:solidFill>
              </a:defRPr>
            </a:pPr>
            <a:r>
              <a:rPr sz="1315" b="0" i="0">
                <a:solidFill>
                  <a:srgbClr val="C3D0E0"/>
                </a:solidFill>
                <a:latin typeface="Aptos"/>
                <a:ea typeface="Aptos"/>
                <a:cs typeface="Aptos"/>
              </a:rPr>
              <a:t>Private Memo </a:t>
            </a:r>
            <a:r>
              <a:rPr lang="zh-CN">
                <a:latin typeface="Aptos"/>
                <a:ea typeface="Aptos"/>
                <a:cs typeface="Aptos"/>
                <a:sym typeface="+mn-ea"/>
              </a:rPr>
              <a:t>是一款可以在</a:t>
            </a:r>
            <a:r>
              <a:rPr>
                <a:latin typeface="Aptos"/>
                <a:ea typeface="Aptos"/>
                <a:cs typeface="Aptos"/>
                <a:sym typeface="+mn-ea"/>
              </a:rPr>
              <a:t>本地完成录音、转写、摘要与加密，</a:t>
            </a:r>
            <a:endParaRPr b="0" i="0">
              <a:solidFill>
                <a:srgbClr val="C3D0E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315" b="0" i="0">
                <a:solidFill>
                  <a:srgbClr val="C3D0E0"/>
                </a:solidFill>
              </a:defRPr>
            </a:pPr>
            <a:r>
              <a:rPr>
                <a:latin typeface="Aptos"/>
                <a:ea typeface="Aptos"/>
                <a:cs typeface="Aptos"/>
                <a:sym typeface="+mn-ea"/>
              </a:rPr>
              <a:t>并让用户通过自己的钱包</a:t>
            </a:r>
            <a:r>
              <a:rPr lang="zh-CN">
                <a:latin typeface="Aptos"/>
                <a:ea typeface="Aptos"/>
                <a:cs typeface="Aptos"/>
                <a:sym typeface="+mn-ea"/>
              </a:rPr>
              <a:t>上链及</a:t>
            </a:r>
            <a:r>
              <a:rPr>
                <a:latin typeface="Aptos"/>
                <a:ea typeface="Aptos"/>
                <a:cs typeface="Aptos"/>
                <a:sym typeface="+mn-ea"/>
              </a:rPr>
              <a:t>恢复记录</a:t>
            </a:r>
            <a:r>
              <a:rPr lang="zh-CN">
                <a:latin typeface="Aptos"/>
                <a:ea typeface="Aptos"/>
                <a:cs typeface="Aptos"/>
                <a:sym typeface="+mn-ea"/>
              </a:rPr>
              <a:t>的主打隐私的产品</a:t>
            </a:r>
            <a:r>
              <a:rPr lang="en-US" altLang="zh-CN">
                <a:latin typeface="Aptos"/>
                <a:ea typeface="Aptos"/>
                <a:cs typeface="Aptos"/>
                <a:sym typeface="+mn-ea"/>
              </a:rPr>
              <a:t>。</a:t>
            </a:r>
            <a:endParaRPr sz="1315" b="0" i="0">
              <a:solidFill>
                <a:srgbClr val="C3D0E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hape 10"/>
          <p:cNvSpPr>
            <a:spLocks noGrp="1"/>
          </p:cNvSpPr>
          <p:nvPr/>
        </p:nvSpPr>
        <p:spPr>
          <a:xfrm>
            <a:off x="7762875" y="3286125"/>
            <a:ext cx="3381375" cy="1952625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Shape 11"/>
          <p:cNvSpPr>
            <a:spLocks noGrp="1"/>
          </p:cNvSpPr>
          <p:nvPr/>
        </p:nvSpPr>
        <p:spPr>
          <a:xfrm>
            <a:off x="7934325" y="3429000"/>
            <a:ext cx="3038475" cy="38100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4" name="Text 12"/>
          <p:cNvSpPr>
            <a:spLocks noGrp="1"/>
          </p:cNvSpPr>
          <p:nvPr/>
        </p:nvSpPr>
        <p:spPr>
          <a:xfrm>
            <a:off x="8001000" y="3476625"/>
            <a:ext cx="2857500" cy="3429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当前进展</a:t>
            </a:r>
            <a:endParaRPr sz="150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Text 13"/>
          <p:cNvSpPr>
            <a:spLocks noGrp="1"/>
          </p:cNvSpPr>
          <p:nvPr/>
        </p:nvSpPr>
        <p:spPr>
          <a:xfrm>
            <a:off x="8001000" y="3943350"/>
            <a:ext cx="2857500" cy="10668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315" b="0" i="0">
                <a:solidFill>
                  <a:srgbClr val="C3D0E0"/>
                </a:solidFill>
              </a:defRPr>
            </a:pPr>
            <a:r>
              <a:rPr sz="1315" b="0" i="0">
                <a:solidFill>
                  <a:srgbClr val="C3D0E0"/>
                </a:solidFill>
                <a:latin typeface="Aptos"/>
                <a:ea typeface="Aptos"/>
                <a:cs typeface="Aptos"/>
              </a:rPr>
              <a:t>1. Android 真机闭环已跑通</a:t>
            </a:r>
            <a:endParaRPr sz="1315" b="0" i="0">
              <a:solidFill>
                <a:srgbClr val="C3D0E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315" b="0" i="0">
                <a:solidFill>
                  <a:srgbClr val="C3D0E0"/>
                </a:solidFill>
              </a:defRPr>
            </a:pPr>
            <a:r>
              <a:rPr sz="1315" b="0" i="0">
                <a:solidFill>
                  <a:srgbClr val="C3D0E0"/>
                </a:solidFill>
                <a:latin typeface="Aptos"/>
                <a:ea typeface="Aptos"/>
                <a:cs typeface="Aptos"/>
              </a:rPr>
              <a:t>2. 三套 ASR + 0.6B 摘要已验证</a:t>
            </a:r>
            <a:endParaRPr sz="1315" b="0" i="0">
              <a:solidFill>
                <a:srgbClr val="C3D0E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315" b="0" i="0">
                <a:solidFill>
                  <a:srgbClr val="C3D0E0"/>
                </a:solidFill>
              </a:defRPr>
            </a:pPr>
            <a:r>
              <a:rPr sz="1315" b="0" i="0">
                <a:solidFill>
                  <a:srgbClr val="C3D0E0"/>
                </a:solidFill>
                <a:latin typeface="Aptos"/>
                <a:ea typeface="Aptos"/>
                <a:cs typeface="Aptos"/>
              </a:rPr>
              <a:t>3. 下一步验证低功耗开发板</a:t>
            </a:r>
            <a:endParaRPr sz="1315" b="0" i="0">
              <a:solidFill>
                <a:srgbClr val="C3D0E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产品定位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先解决私密语音记录，再扩展长期记忆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首版只承诺已经跑通的记录、转写、摘要、加密与恢复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74520"/>
            <a:ext cx="3520440" cy="173736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1984248"/>
            <a:ext cx="326440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07568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目标用户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404872"/>
            <a:ext cx="3209544" cy="10789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隐私敏感的记录者、日记与灵感用户，以及需要离线处理保密语音的专业用户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4334256" y="1874520"/>
            <a:ext cx="3520440" cy="173736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4462272" y="1984248"/>
            <a:ext cx="326440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4517136" y="207568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核心麻烦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517136" y="2404872"/>
            <a:ext cx="3209544" cy="10789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普通录音与 AI 笔记依赖平台账号和云服务；设备丢失、服务退出或隐私策略变化都会影响记录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7973568" y="1874520"/>
            <a:ext cx="3520440" cy="173736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>
            <a:spLocks noGrp="1"/>
          </p:cNvSpPr>
          <p:nvPr/>
        </p:nvSpPr>
        <p:spPr>
          <a:xfrm>
            <a:off x="8101584" y="1984248"/>
            <a:ext cx="326440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8156448" y="207568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产品类别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156448" y="2404872"/>
            <a:ext cx="3209544" cy="10789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离线优先的私密语音备忘录，可作为 Android APK 或独立 ARM 硬件交付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694944" y="3840480"/>
            <a:ext cx="5349240" cy="164592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822960" y="3950208"/>
            <a:ext cx="509320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877824" y="4041648"/>
            <a:ext cx="50383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核心好处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877824" y="4370832"/>
            <a:ext cx="5038344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录音和转写默认留在设备；用户需要长期保存时，再自行授权钱包提交密文。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6327648" y="3840480"/>
            <a:ext cx="5175504" cy="164592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>
            <a:spLocks noGrp="1"/>
          </p:cNvSpPr>
          <p:nvPr/>
        </p:nvSpPr>
        <p:spPr>
          <a:xfrm>
            <a:off x="6455664" y="3950208"/>
            <a:ext cx="4919472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8" name="Text 26"/>
          <p:cNvSpPr>
            <a:spLocks noGrp="1"/>
          </p:cNvSpPr>
          <p:nvPr/>
        </p:nvSpPr>
        <p:spPr>
          <a:xfrm>
            <a:off x="6510528" y="4041648"/>
            <a:ext cx="486460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替代方案与独特之处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6510528" y="4370832"/>
            <a:ext cx="4864608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普通录音笔解决采集，云端 AI 笔记解决效率；Private Memo 把离线处理、用户持钥和可恢复密文合成一个闭环。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676656" y="6181344"/>
            <a:ext cx="10881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"/>
                <a:ea typeface="Aptos"/>
                <a:cs typeface="Aptos"/>
              </a:rPr>
              <a:t>当前已证明技术闭环；高频需求、价格接受度与硬件形态仍需真实用户验证。</a:t>
            </a:r>
            <a:endParaRPr sz="1425" b="1" i="0">
              <a:solidFill>
                <a:srgbClr val="0C182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11F"/>
            </a:gs>
            <a:gs pos="68000">
              <a:srgbClr val="0B1B32"/>
            </a:gs>
            <a:gs pos="100000">
              <a:srgbClr val="102B3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9966960" y="-868680"/>
            <a:ext cx="3931920" cy="393192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9052560" y="137160"/>
            <a:ext cx="2103120" cy="210312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658368" y="365760"/>
            <a:ext cx="10972800" cy="18288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57F2C1"/>
                </a:solidFill>
              </a:defRPr>
            </a:pPr>
            <a:r>
              <a:rPr sz="1090" b="1" i="0">
                <a:solidFill>
                  <a:srgbClr val="57F2C1"/>
                </a:solidFill>
                <a:latin typeface="Aptos"/>
                <a:ea typeface="Aptos"/>
                <a:cs typeface="Aptos"/>
              </a:rPr>
              <a:t>用户任务与核心麻烦</a:t>
            </a:r>
            <a:endParaRPr sz="1090" b="1" i="0">
              <a:solidFill>
                <a:srgbClr val="57F2C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用户要的不是更多 AI，而是放心记录并能找回</a:t>
            </a:r>
            <a:endParaRPr sz="345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9FB0C5"/>
                </a:solidFill>
              </a:defRPr>
            </a:pPr>
            <a:r>
              <a:rPr sz="1500" b="0" i="0">
                <a:solidFill>
                  <a:srgbClr val="9FB0C5"/>
                </a:solidFill>
                <a:latin typeface="Aptos"/>
                <a:ea typeface="Aptos"/>
                <a:cs typeface="Aptos"/>
              </a:rPr>
              <a:t>首版围绕三个可验证任务收敛</a:t>
            </a:r>
            <a:endParaRPr sz="1500" b="0" i="0">
              <a:solidFill>
                <a:srgbClr val="9FB0C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762000" y="2095500"/>
            <a:ext cx="6477000" cy="295275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228600" indent="-228600" algn="l">
              <a:buSzPct val="100000"/>
              <a:buChar char="•"/>
              <a:defRPr sz="1575" b="0" i="0">
                <a:solidFill>
                  <a:srgbClr val="D6E0EC"/>
                </a:solidFill>
              </a:defRPr>
            </a:pPr>
            <a:r>
              <a:rPr sz="1575" b="0" i="0">
                <a:solidFill>
                  <a:srgbClr val="D6E0EC"/>
                </a:solidFill>
                <a:latin typeface="Aptos"/>
                <a:ea typeface="Aptos"/>
                <a:cs typeface="Aptos"/>
              </a:rPr>
              <a:t>隐私记录者｜敏感语音默认不上传云端</a:t>
            </a:r>
            <a:endParaRPr sz="1575" b="0" i="0">
              <a:solidFill>
                <a:srgbClr val="D6E0EC"/>
              </a:solidFill>
              <a:latin typeface="Aptos"/>
              <a:ea typeface="Aptos"/>
              <a:cs typeface="Aptos"/>
            </a:endParaRPr>
          </a:p>
          <a:p>
            <a:pPr marL="228600" indent="-228600" algn="l">
              <a:buSzPct val="100000"/>
              <a:buChar char="•"/>
              <a:defRPr sz="1575" b="0" i="0">
                <a:solidFill>
                  <a:srgbClr val="D6E0EC"/>
                </a:solidFill>
              </a:defRPr>
            </a:pPr>
            <a:r>
              <a:rPr sz="1575" b="0" i="0">
                <a:solidFill>
                  <a:srgbClr val="D6E0EC"/>
                </a:solidFill>
                <a:latin typeface="Aptos"/>
                <a:ea typeface="Aptos"/>
                <a:cs typeface="Aptos"/>
              </a:rPr>
              <a:t>深度记录者｜录音后快速得到文本与每日摘要</a:t>
            </a:r>
            <a:endParaRPr sz="1575" b="0" i="0">
              <a:solidFill>
                <a:srgbClr val="D6E0EC"/>
              </a:solidFill>
              <a:latin typeface="Aptos"/>
              <a:ea typeface="Aptos"/>
              <a:cs typeface="Aptos"/>
            </a:endParaRPr>
          </a:p>
          <a:p>
            <a:pPr marL="228600" indent="-228600" algn="l">
              <a:buSzPct val="100000"/>
              <a:buChar char="•"/>
              <a:defRPr sz="1575" b="0" i="0">
                <a:solidFill>
                  <a:srgbClr val="D6E0EC"/>
                </a:solidFill>
              </a:defRPr>
            </a:pPr>
            <a:r>
              <a:rPr sz="1575" b="0" i="0">
                <a:solidFill>
                  <a:srgbClr val="D6E0EC"/>
                </a:solidFill>
                <a:latin typeface="Aptos"/>
                <a:ea typeface="Aptos"/>
                <a:cs typeface="Aptos"/>
              </a:rPr>
              <a:t>长期保存者｜换机后仍可由原钱包恢复密文</a:t>
            </a:r>
            <a:endParaRPr sz="1575" b="0" i="0">
              <a:solidFill>
                <a:srgbClr val="D6E0E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7858125" y="2238375"/>
            <a:ext cx="3381375" cy="904875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020050" y="2352675"/>
            <a:ext cx="3057525" cy="38100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096250" y="2447925"/>
            <a:ext cx="2905125" cy="2667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任务 1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096250" y="2733675"/>
            <a:ext cx="2905125" cy="32385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断网也能录音、转写和查看历史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7858125" y="3381375"/>
            <a:ext cx="3381375" cy="904875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Shape 13"/>
          <p:cNvSpPr>
            <a:spLocks noGrp="1"/>
          </p:cNvSpPr>
          <p:nvPr/>
        </p:nvSpPr>
        <p:spPr>
          <a:xfrm>
            <a:off x="8020050" y="3495675"/>
            <a:ext cx="3057525" cy="38100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096250" y="3590925"/>
            <a:ext cx="2905125" cy="2667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任务 2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8096250" y="3876675"/>
            <a:ext cx="2905125" cy="32385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不依赖某个业务账号持续存在。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7858125" y="4524375"/>
            <a:ext cx="3381375" cy="904875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Shape 17"/>
          <p:cNvSpPr>
            <a:spLocks noGrp="1"/>
          </p:cNvSpPr>
          <p:nvPr/>
        </p:nvSpPr>
        <p:spPr>
          <a:xfrm>
            <a:off x="8020050" y="4638675"/>
            <a:ext cx="3057525" cy="38100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8096250" y="4733925"/>
            <a:ext cx="2905125" cy="2667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任务 3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096250" y="5019675"/>
            <a:ext cx="2905125" cy="32385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丢失设备后仍可验证身份并恢复密文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用户验证假设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先证明高频使用和恢复价值，再估算市场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市场规模数字暂不替代真实行为与付费证据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28800"/>
            <a:ext cx="31546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1938528"/>
            <a:ext cx="289864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029968"/>
            <a:ext cx="28437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需求强度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是否高频记录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359152"/>
            <a:ext cx="2843784" cy="15819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每周主动录音次数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</a:rPr>
              <a:t>用户是否在真实场景持续使用，而不只是试用一次</a:t>
            </a:r>
            <a:endParaRPr sz="1275" b="0" i="0">
              <a:solidFill>
                <a:srgbClr val="4D5B70"/>
              </a:solidFill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4187952" y="1828800"/>
            <a:ext cx="31546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Shape 13"/>
          <p:cNvSpPr>
            <a:spLocks noGrp="1"/>
          </p:cNvSpPr>
          <p:nvPr/>
        </p:nvSpPr>
        <p:spPr>
          <a:xfrm>
            <a:off x="4315968" y="1938528"/>
            <a:ext cx="289864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4370832" y="2029968"/>
            <a:ext cx="28437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理解成本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是否能独立恢复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370832" y="2359152"/>
            <a:ext cx="2843784" cy="15819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配对与恢复成功率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</a:rPr>
              <a:t>用户能否理解钱包作用，并独立完成换机恢复</a:t>
            </a:r>
            <a:endParaRPr sz="1275" b="0" i="0">
              <a:solidFill>
                <a:srgbClr val="4D5B70"/>
              </a:solidFill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7680960" y="1828800"/>
            <a:ext cx="3822192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Shape 17"/>
          <p:cNvSpPr>
            <a:spLocks noGrp="1"/>
          </p:cNvSpPr>
          <p:nvPr/>
        </p:nvSpPr>
        <p:spPr>
          <a:xfrm>
            <a:off x="7808976" y="1938528"/>
            <a:ext cx="3566160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7863840" y="2029968"/>
            <a:ext cx="351129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付费意愿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选择哪种形态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7863840" y="2359152"/>
            <a:ext cx="3511296" cy="15819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APK 或独立硬件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</a:rPr>
              <a:t>比较软件付费、硬件溢价和订阅接受度</a:t>
            </a:r>
            <a:endParaRPr sz="1275" b="0" i="0">
              <a:solidFill>
                <a:srgbClr val="4D5B70"/>
              </a:solidFill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3730752" y="2697480"/>
            <a:ext cx="274320" cy="201168"/>
          </a:xfrm>
          <a:prstGeom prst="rightArrow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7223760" y="2697480"/>
            <a:ext cx="274320" cy="201168"/>
          </a:xfrm>
          <a:prstGeom prst="rightArrow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4" name="Shape 22"/>
          <p:cNvSpPr>
            <a:spLocks noGrp="1"/>
          </p:cNvSpPr>
          <p:nvPr/>
        </p:nvSpPr>
        <p:spPr>
          <a:xfrm>
            <a:off x="1993392" y="3977640"/>
            <a:ext cx="201168" cy="256032"/>
          </a:xfrm>
          <a:prstGeom prst="downArrow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5" name="Shape 23"/>
          <p:cNvSpPr>
            <a:spLocks noGrp="1"/>
          </p:cNvSpPr>
          <p:nvPr/>
        </p:nvSpPr>
        <p:spPr>
          <a:xfrm>
            <a:off x="5477256" y="3977640"/>
            <a:ext cx="201168" cy="256032"/>
          </a:xfrm>
          <a:prstGeom prst="downArrow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6" name="Shape 24"/>
          <p:cNvSpPr>
            <a:spLocks noGrp="1"/>
          </p:cNvSpPr>
          <p:nvPr/>
        </p:nvSpPr>
        <p:spPr>
          <a:xfrm>
            <a:off x="9491472" y="3977640"/>
            <a:ext cx="201168" cy="256032"/>
          </a:xfrm>
          <a:prstGeom prst="downArrow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7" name="Shape 25"/>
          <p:cNvSpPr>
            <a:spLocks noGrp="1"/>
          </p:cNvSpPr>
          <p:nvPr/>
        </p:nvSpPr>
        <p:spPr>
          <a:xfrm>
            <a:off x="694944" y="4370832"/>
            <a:ext cx="315468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8" name="Shape 26"/>
          <p:cNvSpPr>
            <a:spLocks noGrp="1"/>
          </p:cNvSpPr>
          <p:nvPr/>
        </p:nvSpPr>
        <p:spPr>
          <a:xfrm>
            <a:off x="822960" y="4480560"/>
            <a:ext cx="289864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29" name="Text 27"/>
          <p:cNvSpPr>
            <a:spLocks noGrp="1"/>
          </p:cNvSpPr>
          <p:nvPr/>
        </p:nvSpPr>
        <p:spPr>
          <a:xfrm>
            <a:off x="877824" y="4572000"/>
            <a:ext cx="28437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验证锚点 1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0" name="Text 28"/>
          <p:cNvSpPr>
            <a:spLocks noGrp="1"/>
          </p:cNvSpPr>
          <p:nvPr/>
        </p:nvSpPr>
        <p:spPr>
          <a:xfrm>
            <a:off x="877824" y="4901184"/>
            <a:ext cx="2843784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30 位目标用户深访，观察真实记录任务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Shape 29"/>
          <p:cNvSpPr>
            <a:spLocks noGrp="1"/>
          </p:cNvSpPr>
          <p:nvPr/>
        </p:nvSpPr>
        <p:spPr>
          <a:xfrm>
            <a:off x="4187952" y="4370832"/>
            <a:ext cx="3154680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2" name="Shape 30"/>
          <p:cNvSpPr>
            <a:spLocks noGrp="1"/>
          </p:cNvSpPr>
          <p:nvPr/>
        </p:nvSpPr>
        <p:spPr>
          <a:xfrm>
            <a:off x="4315968" y="4480560"/>
            <a:ext cx="289864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33" name="Text 31"/>
          <p:cNvSpPr>
            <a:spLocks noGrp="1"/>
          </p:cNvSpPr>
          <p:nvPr/>
        </p:nvSpPr>
        <p:spPr>
          <a:xfrm>
            <a:off x="4370832" y="4572000"/>
            <a:ext cx="28437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验证锚点 2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4" name="Text 32"/>
          <p:cNvSpPr>
            <a:spLocks noGrp="1"/>
          </p:cNvSpPr>
          <p:nvPr/>
        </p:nvSpPr>
        <p:spPr>
          <a:xfrm>
            <a:off x="4370832" y="4901184"/>
            <a:ext cx="2843784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20–30 笔真实支付，验证价格而非口头意愿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Shape 33"/>
          <p:cNvSpPr>
            <a:spLocks noGrp="1"/>
          </p:cNvSpPr>
          <p:nvPr/>
        </p:nvSpPr>
        <p:spPr>
          <a:xfrm>
            <a:off x="7680960" y="4370832"/>
            <a:ext cx="3822192" cy="11704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6" name="Shape 34"/>
          <p:cNvSpPr>
            <a:spLocks noGrp="1"/>
          </p:cNvSpPr>
          <p:nvPr/>
        </p:nvSpPr>
        <p:spPr>
          <a:xfrm>
            <a:off x="7808976" y="4480560"/>
            <a:ext cx="3566160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37" name="Text 35"/>
          <p:cNvSpPr>
            <a:spLocks noGrp="1"/>
          </p:cNvSpPr>
          <p:nvPr/>
        </p:nvSpPr>
        <p:spPr>
          <a:xfrm>
            <a:off x="7863840" y="4572000"/>
            <a:ext cx="351129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验证锚点 3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8" name="Text 36"/>
          <p:cNvSpPr>
            <a:spLocks noGrp="1"/>
          </p:cNvSpPr>
          <p:nvPr/>
        </p:nvSpPr>
        <p:spPr>
          <a:xfrm>
            <a:off x="7863840" y="4901184"/>
            <a:ext cx="3511296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建立 7 日 / 30 日留存与恢复成功率基线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Text 37"/>
          <p:cNvSpPr>
            <a:spLocks noGrp="1"/>
          </p:cNvSpPr>
          <p:nvPr/>
        </p:nvSpPr>
        <p:spPr>
          <a:xfrm>
            <a:off x="731520" y="5577840"/>
            <a:ext cx="10652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940" b="0" i="1">
                <a:solidFill>
                  <a:srgbClr val="778399"/>
                </a:solidFill>
              </a:defRPr>
            </a:pPr>
            <a:r>
              <a:rPr sz="940" b="0" i="1">
                <a:solidFill>
                  <a:srgbClr val="778399"/>
                </a:solidFill>
                <a:latin typeface="Aptos"/>
                <a:ea typeface="Aptos"/>
                <a:cs typeface="Aptos"/>
              </a:rPr>
              <a:t>这些是下一阶段验证指标，不是已经取得的市场结果。</a:t>
            </a:r>
            <a:endParaRPr sz="940" b="0" i="1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Text 38"/>
          <p:cNvSpPr>
            <a:spLocks noGrp="1"/>
          </p:cNvSpPr>
          <p:nvPr/>
        </p:nvSpPr>
        <p:spPr>
          <a:xfrm>
            <a:off x="731520" y="5897880"/>
            <a:ext cx="10652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940" b="0" i="1">
                <a:solidFill>
                  <a:srgbClr val="778399"/>
                </a:solidFill>
              </a:defRPr>
            </a:pPr>
            <a:r>
              <a:rPr sz="940" b="0" i="1">
                <a:solidFill>
                  <a:srgbClr val="778399"/>
                </a:solidFill>
                <a:latin typeface="Aptos"/>
                <a:ea typeface="Aptos"/>
                <a:cs typeface="Aptos"/>
              </a:rPr>
              <a:t>Source: 调研报告 §1、§3、§9；所有数字均为验证目标。</a:t>
            </a:r>
            <a:endParaRPr sz="940" b="0" i="1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11F"/>
            </a:gs>
            <a:gs pos="68000">
              <a:srgbClr val="0B1B32"/>
            </a:gs>
            <a:gs pos="100000">
              <a:srgbClr val="102B3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57F2C1"/>
                </a:solidFill>
              </a:defRPr>
            </a:pPr>
            <a:r>
              <a:rPr sz="1090" b="1" i="0">
                <a:solidFill>
                  <a:srgbClr val="57F2C1"/>
                </a:solidFill>
                <a:latin typeface="Aptos"/>
                <a:ea typeface="Aptos"/>
                <a:cs typeface="Aptos"/>
              </a:rPr>
              <a:t>产品定义</a:t>
            </a:r>
            <a:endParaRPr sz="1090" b="1" i="0">
              <a:solidFill>
                <a:srgbClr val="57F2C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设备、本地 AI、钱包和链各自只做擅长的事</a:t>
            </a:r>
            <a:endParaRPr sz="345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9FB0C5"/>
                </a:solidFill>
              </a:defRPr>
            </a:pPr>
            <a:r>
              <a:rPr sz="1500" b="0" i="0">
                <a:solidFill>
                  <a:srgbClr val="9FB0C5"/>
                </a:solidFill>
                <a:latin typeface="Aptos"/>
                <a:ea typeface="Aptos"/>
                <a:cs typeface="Aptos"/>
              </a:rPr>
              <a:t>一个页面讲清首版闭环</a:t>
            </a:r>
            <a:endParaRPr sz="1500" b="0" i="0">
              <a:solidFill>
                <a:srgbClr val="9FB0C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74520"/>
            <a:ext cx="3383280" cy="13258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1984248"/>
            <a:ext cx="312724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075688"/>
            <a:ext cx="30723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设备：记录与处理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404872"/>
            <a:ext cx="3072384" cy="6675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录音、VAD、离线 ASR、每日摘要、本地文件管理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4407408" y="1874520"/>
            <a:ext cx="3383280" cy="13258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Shape 13"/>
          <p:cNvSpPr>
            <a:spLocks noGrp="1"/>
          </p:cNvSpPr>
          <p:nvPr/>
        </p:nvSpPr>
        <p:spPr>
          <a:xfrm>
            <a:off x="4535424" y="1984248"/>
            <a:ext cx="312724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4590288" y="2075688"/>
            <a:ext cx="30723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可选网络：用户控制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590288" y="2404872"/>
            <a:ext cx="3072384" cy="6675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仅在明确开启后调用局域网 / HTTPS Provider；关闭即回到内置模型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8119872" y="1874520"/>
            <a:ext cx="3383280" cy="13258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Shape 17"/>
          <p:cNvSpPr>
            <a:spLocks noGrp="1"/>
          </p:cNvSpPr>
          <p:nvPr/>
        </p:nvSpPr>
        <p:spPr>
          <a:xfrm>
            <a:off x="8247888" y="1984248"/>
            <a:ext cx="312724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8302752" y="2075688"/>
            <a:ext cx="30723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钱包与链：授权恢复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302752" y="2404872"/>
            <a:ext cx="3072384" cy="6675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imToken 保存私钥并确认签名和交易；合约按钱包地址索引密文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3977640" y="2286000"/>
            <a:ext cx="320040" cy="219456"/>
          </a:xfrm>
          <a:prstGeom prst="rightArrow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7690104" y="2286000"/>
            <a:ext cx="320040" cy="219456"/>
          </a:xfrm>
          <a:prstGeom prst="rightArrow">
            <a:avLst/>
          </a:prstGeom>
          <a:solidFill>
            <a:srgbClr val="E7EAF2"/>
          </a:solidFill>
          <a:ln w="12700">
            <a:solidFill>
              <a:srgbClr val="E7EAF2"/>
            </a:solidFill>
            <a:prstDash val="solid"/>
          </a:ln>
        </p:spPr>
      </p:sp>
      <p:sp>
        <p:nvSpPr>
          <p:cNvPr id="24" name="Shape 22"/>
          <p:cNvSpPr>
            <a:spLocks noGrp="1"/>
          </p:cNvSpPr>
          <p:nvPr/>
        </p:nvSpPr>
        <p:spPr>
          <a:xfrm>
            <a:off x="694944" y="3657600"/>
            <a:ext cx="10808208" cy="2084832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5" name="Shape 23"/>
          <p:cNvSpPr>
            <a:spLocks noGrp="1"/>
          </p:cNvSpPr>
          <p:nvPr/>
        </p:nvSpPr>
        <p:spPr>
          <a:xfrm>
            <a:off x="822960" y="3767328"/>
            <a:ext cx="10552176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26" name="Text 24"/>
          <p:cNvSpPr>
            <a:spLocks noGrp="1"/>
          </p:cNvSpPr>
          <p:nvPr/>
        </p:nvSpPr>
        <p:spPr>
          <a:xfrm>
            <a:off x="877824" y="3858768"/>
            <a:ext cx="104973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闭环含义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7" name="Text 25"/>
          <p:cNvSpPr>
            <a:spLocks noGrp="1"/>
          </p:cNvSpPr>
          <p:nvPr/>
        </p:nvSpPr>
        <p:spPr>
          <a:xfrm>
            <a:off x="877824" y="4187952"/>
            <a:ext cx="10497312" cy="1426464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设备不保存钱包私钥，钱包不接触设备录音。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转写文本先在设备端用 AES-256-GCM 加密，再通过二维码交给静态网页与 imToken。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关闭网页不会丢失链上密文；原钱包以后可重新授权并在浏览器本地解密。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11F"/>
            </a:gs>
            <a:gs pos="68000">
              <a:srgbClr val="0B1B32"/>
            </a:gs>
            <a:gs pos="100000">
              <a:srgbClr val="102B3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57F2C1"/>
                </a:solidFill>
              </a:defRPr>
            </a:pPr>
            <a:r>
              <a:rPr sz="1090" b="1" i="0">
                <a:solidFill>
                  <a:srgbClr val="57F2C1"/>
                </a:solidFill>
                <a:latin typeface="Aptos"/>
                <a:ea typeface="Aptos"/>
                <a:cs typeface="Aptos"/>
              </a:rPr>
              <a:t>技术可行性</a:t>
            </a:r>
            <a:endParaRPr sz="1090" b="1" i="0">
              <a:solidFill>
                <a:srgbClr val="57F2C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Android 真机已经跑通完整离线链路</a:t>
            </a:r>
            <a:endParaRPr sz="345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9FB0C5"/>
                </a:solidFill>
              </a:defRPr>
            </a:pPr>
            <a:r>
              <a:rPr sz="1500" b="0" i="0">
                <a:solidFill>
                  <a:srgbClr val="9FB0C5"/>
                </a:solidFill>
                <a:latin typeface="Aptos"/>
                <a:ea typeface="Aptos"/>
                <a:cs typeface="Aptos"/>
              </a:rPr>
              <a:t>当前结论来自 Seeker 8GB arm64 实测，不外推到目标开发板</a:t>
            </a:r>
            <a:endParaRPr sz="1500" b="0" i="0">
              <a:solidFill>
                <a:srgbClr val="9FB0C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965960"/>
            <a:ext cx="3529584" cy="173736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41248" y="2075688"/>
            <a:ext cx="3236976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96112" y="2221992"/>
            <a:ext cx="311810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550" b="1" i="0">
                <a:solidFill>
                  <a:srgbClr val="7C63FF"/>
                </a:solidFill>
              </a:defRPr>
            </a:pPr>
            <a:r>
              <a:rPr sz="2550" b="1" i="0">
                <a:solidFill>
                  <a:srgbClr val="7C63FF"/>
                </a:solidFill>
                <a:latin typeface="Aptos Display"/>
                <a:ea typeface="Aptos Display"/>
                <a:cs typeface="Aptos Display"/>
              </a:rPr>
              <a:t>8GB arm64</a:t>
            </a:r>
            <a:endParaRPr sz="2550" b="1" i="0">
              <a:solidFill>
                <a:srgbClr val="7C63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96112" y="2715768"/>
            <a:ext cx="311810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参考设备基线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96112" y="2953512"/>
            <a:ext cx="3118104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MT6878 · Android 15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三套 ASR 与摘要均可加载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4334256" y="1965960"/>
            <a:ext cx="3529584" cy="173736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Shape 14"/>
          <p:cNvSpPr>
            <a:spLocks noGrp="1"/>
          </p:cNvSpPr>
          <p:nvPr/>
        </p:nvSpPr>
        <p:spPr>
          <a:xfrm>
            <a:off x="4480560" y="2075688"/>
            <a:ext cx="3236976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4535424" y="2221992"/>
            <a:ext cx="311810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550" b="1" i="0">
                <a:solidFill>
                  <a:srgbClr val="47C8FF"/>
                </a:solidFill>
              </a:defRPr>
            </a:pPr>
            <a:r>
              <a:rPr sz="2550" b="1" i="0">
                <a:solidFill>
                  <a:srgbClr val="47C8FF"/>
                </a:solidFill>
                <a:latin typeface="Aptos Display"/>
                <a:ea typeface="Aptos Display"/>
                <a:cs typeface="Aptos Display"/>
              </a:rPr>
              <a:t>3 套 ASR</a:t>
            </a:r>
            <a:endParaRPr sz="2550" b="1" i="0">
              <a:solidFill>
                <a:srgbClr val="47C8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535424" y="2715768"/>
            <a:ext cx="311810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同一设备验证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535424" y="2953512"/>
            <a:ext cx="3118104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Paraformer / SenseVoice / R2T2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短样本 0/9 运行失败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7973568" y="1965960"/>
            <a:ext cx="3529584" cy="173736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Shape 19"/>
          <p:cNvSpPr>
            <a:spLocks noGrp="1"/>
          </p:cNvSpPr>
          <p:nvPr/>
        </p:nvSpPr>
        <p:spPr>
          <a:xfrm>
            <a:off x="8119872" y="2075688"/>
            <a:ext cx="3236976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2" name="Text 20"/>
          <p:cNvSpPr>
            <a:spLocks noGrp="1"/>
          </p:cNvSpPr>
          <p:nvPr/>
        </p:nvSpPr>
        <p:spPr>
          <a:xfrm>
            <a:off x="8174736" y="2221992"/>
            <a:ext cx="311810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550" b="1" i="0">
                <a:solidFill>
                  <a:srgbClr val="FFB34A"/>
                </a:solidFill>
              </a:defRPr>
            </a:pPr>
            <a:r>
              <a:rPr sz="2550" b="1" i="0">
                <a:solidFill>
                  <a:srgbClr val="FFB34A"/>
                </a:solidFill>
                <a:latin typeface="Aptos Display"/>
                <a:ea typeface="Aptos Display"/>
                <a:cs typeface="Aptos Display"/>
              </a:rPr>
              <a:t>RTF &lt; 1</a:t>
            </a:r>
            <a:endParaRPr sz="2550" b="1" i="0">
              <a:solidFill>
                <a:srgbClr val="FFB34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8174736" y="2715768"/>
            <a:ext cx="3118104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三模型均跟得上音频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8174736" y="2953512"/>
            <a:ext cx="3118104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6.74 秒样本：0.014 / 0.037 / 0.676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694944" y="4069080"/>
            <a:ext cx="3529584" cy="164592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Shape 24"/>
          <p:cNvSpPr>
            <a:spLocks noGrp="1"/>
          </p:cNvSpPr>
          <p:nvPr/>
        </p:nvSpPr>
        <p:spPr>
          <a:xfrm>
            <a:off x="822960" y="4178808"/>
            <a:ext cx="3273552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877824" y="4270248"/>
            <a:ext cx="321868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 分钟录音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877824" y="4599432"/>
            <a:ext cx="3218688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自动保存 + VAD / 固定 15 秒分段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4334256" y="4069080"/>
            <a:ext cx="3529584" cy="164592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Shape 28"/>
          <p:cNvSpPr>
            <a:spLocks noGrp="1"/>
          </p:cNvSpPr>
          <p:nvPr/>
        </p:nvSpPr>
        <p:spPr>
          <a:xfrm>
            <a:off x="4462272" y="4178808"/>
            <a:ext cx="3273552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31" name="Text 29"/>
          <p:cNvSpPr>
            <a:spLocks noGrp="1"/>
          </p:cNvSpPr>
          <p:nvPr/>
        </p:nvSpPr>
        <p:spPr>
          <a:xfrm>
            <a:off x="4517136" y="4270248"/>
            <a:ext cx="321868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0.6B Q4 摘要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4517136" y="4599432"/>
            <a:ext cx="3218688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覆盖不足时自动回退原文提取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Shape 31"/>
          <p:cNvSpPr>
            <a:spLocks noGrp="1"/>
          </p:cNvSpPr>
          <p:nvPr/>
        </p:nvSpPr>
        <p:spPr>
          <a:xfrm>
            <a:off x="7973568" y="4069080"/>
            <a:ext cx="3529584" cy="164592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Shape 32"/>
          <p:cNvSpPr>
            <a:spLocks noGrp="1"/>
          </p:cNvSpPr>
          <p:nvPr/>
        </p:nvSpPr>
        <p:spPr>
          <a:xfrm>
            <a:off x="8101584" y="4178808"/>
            <a:ext cx="3273552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35" name="Text 33"/>
          <p:cNvSpPr>
            <a:spLocks noGrp="1"/>
          </p:cNvSpPr>
          <p:nvPr/>
        </p:nvSpPr>
        <p:spPr>
          <a:xfrm>
            <a:off x="8156448" y="4270248"/>
            <a:ext cx="321868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AES-GCM + QR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8156448" y="4599432"/>
            <a:ext cx="3218688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加密、篡改拒绝和二维码互操作已验证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系统架构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明文停留在设备与用户授权的浏览器会话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当前实现从录音、加密、提交到恢复均可解释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28800"/>
            <a:ext cx="26974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1938528"/>
            <a:ext cx="244144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029968"/>
            <a:ext cx="23865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设备端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359152"/>
            <a:ext cx="2386584" cy="2816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AudioRecord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Silero VAD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本地 ASR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转写 / 摘要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3584448" y="1828800"/>
            <a:ext cx="26974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Shape 13"/>
          <p:cNvSpPr>
            <a:spLocks noGrp="1"/>
          </p:cNvSpPr>
          <p:nvPr/>
        </p:nvSpPr>
        <p:spPr>
          <a:xfrm>
            <a:off x="3712464" y="1938528"/>
            <a:ext cx="244144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3767328" y="2029968"/>
            <a:ext cx="23865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加密与密钥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3767328" y="2359152"/>
            <a:ext cx="2386584" cy="2816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钱包签名派生 KEK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HKDF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AES-256-GCM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Android Keystore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6473952" y="1828800"/>
            <a:ext cx="2697480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Shape 17"/>
          <p:cNvSpPr>
            <a:spLocks noGrp="1"/>
          </p:cNvSpPr>
          <p:nvPr/>
        </p:nvSpPr>
        <p:spPr>
          <a:xfrm>
            <a:off x="6601968" y="1938528"/>
            <a:ext cx="244144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6656832" y="2029968"/>
            <a:ext cx="23865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授权与提交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6656832" y="2359152"/>
            <a:ext cx="2386584" cy="2816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HTTPS 静态网页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imToken Provider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用户确认交易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MemoryRegistry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9372600" y="1828800"/>
            <a:ext cx="2130552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Shape 21"/>
          <p:cNvSpPr>
            <a:spLocks noGrp="1"/>
          </p:cNvSpPr>
          <p:nvPr/>
        </p:nvSpPr>
        <p:spPr>
          <a:xfrm>
            <a:off x="9500616" y="1938528"/>
            <a:ext cx="1874520" cy="36576"/>
          </a:xfrm>
          <a:prstGeom prst="rect">
            <a:avLst/>
          </a:prstGeom>
          <a:solidFill>
            <a:srgbClr val="57F2C1"/>
          </a:solidFill>
          <a:ln w="0">
            <a:noFill/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9555480" y="2029968"/>
            <a:ext cx="181965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恢复端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9555480" y="2359152"/>
            <a:ext cx="1819656" cy="2816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按 owner 读取批次索引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命中区块日志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交易 calldata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浏览器本地解密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Text 24"/>
          <p:cNvSpPr>
            <a:spLocks noGrp="1"/>
          </p:cNvSpPr>
          <p:nvPr/>
        </p:nvSpPr>
        <p:spPr>
          <a:xfrm>
            <a:off x="676656" y="6181344"/>
            <a:ext cx="10881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"/>
                <a:ea typeface="Aptos"/>
                <a:cs typeface="Aptos"/>
              </a:rPr>
              <a:t>链上只保存密文定位信息和索引；设备、网页和合约都不接触钱包私钥。</a:t>
            </a:r>
            <a:endParaRPr sz="1425" b="1" i="0">
              <a:solidFill>
                <a:srgbClr val="0C182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11F"/>
            </a:gs>
            <a:gs pos="68000">
              <a:srgbClr val="0B1B32"/>
            </a:gs>
            <a:gs pos="100000">
              <a:srgbClr val="102B3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8" name="top-rule"/>
          <p:cNvSpPr>
            <a:spLocks noGrp="1"/>
          </p:cNvSpPr>
          <p:nvPr/>
        </p:nvSpPr>
        <p:spPr>
          <a:xfrm>
            <a:off x="619125" y="342900"/>
            <a:ext cx="11020425" cy="19050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2" name="section-rule"/>
          <p:cNvSpPr>
            <a:spLocks noGrp="1"/>
          </p:cNvSpPr>
          <p:nvPr/>
        </p:nvSpPr>
        <p:spPr>
          <a:xfrm>
            <a:off x="657225" y="590550"/>
            <a:ext cx="457200" cy="28575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3" name="section-label"/>
          <p:cNvSpPr>
            <a:spLocks noGrp="1"/>
          </p:cNvSpPr>
          <p:nvPr/>
        </p:nvSpPr>
        <p:spPr>
          <a:xfrm>
            <a:off x="1285875" y="495300"/>
            <a:ext cx="2571750" cy="266700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7F2C1"/>
                </a:solidFill>
              </a:defRPr>
            </a:pPr>
            <a:r>
              <a:rPr sz="1125" b="1">
                <a:solidFill>
                  <a:srgbClr val="57F2C1"/>
                </a:solidFill>
              </a:rPr>
              <a:t>产品概念三视图</a:t>
            </a:r>
            <a:endParaRPr sz="1125" b="1">
              <a:solidFill>
                <a:srgbClr val="57F2C1"/>
              </a:solidFill>
            </a:endParaRPr>
          </a:p>
        </p:txBody>
      </p:sp>
      <p:sp>
        <p:nvSpPr>
          <p:cNvPr id="4" name="headline"/>
          <p:cNvSpPr>
            <a:spLocks noGrp="1"/>
          </p:cNvSpPr>
          <p:nvPr/>
        </p:nvSpPr>
        <p:spPr>
          <a:xfrm>
            <a:off x="742950" y="1219200"/>
            <a:ext cx="3333750" cy="1285875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产品形态已落到</a:t>
            </a:r>
            <a:endParaRPr sz="2550" b="1">
              <a:solidFill>
                <a:srgbClr val="FFFFFF"/>
              </a:solidFill>
            </a:endParaRPr>
          </a:p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尺寸、交互与佩戴</a:t>
            </a:r>
            <a:endParaRPr sz="2550" b="1">
              <a:solidFill>
                <a:srgbClr val="FFFFFF"/>
              </a:solidFill>
            </a:endParaRPr>
          </a:p>
        </p:txBody>
      </p:sp>
      <p:sp>
        <p:nvSpPr>
          <p:cNvPr id="5" name="subhead"/>
          <p:cNvSpPr>
            <a:spLocks noGrp="1"/>
          </p:cNvSpPr>
          <p:nvPr/>
        </p:nvSpPr>
        <p:spPr>
          <a:xfrm>
            <a:off x="762000" y="2495550"/>
            <a:ext cx="3238500" cy="323850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1425">
                <a:solidFill>
                  <a:srgbClr val="9FB0C5"/>
                </a:solidFill>
              </a:defRPr>
            </a:pPr>
            <a:r>
              <a:rPr sz="1425">
                <a:solidFill>
                  <a:srgbClr val="9FB0C5"/>
                </a:solidFill>
              </a:rPr>
              <a:t>外观概念与当前软件闭环同步推进</a:t>
            </a:r>
            <a:endParaRPr sz="1425">
              <a:solidFill>
                <a:srgbClr val="9FB0C5"/>
              </a:solidFill>
            </a:endParaRPr>
          </a:p>
        </p:txBody>
      </p:sp>
      <p:sp>
        <p:nvSpPr>
          <p:cNvPr id="6" name="point-0-bar"/>
          <p:cNvSpPr>
            <a:spLocks noGrp="1"/>
          </p:cNvSpPr>
          <p:nvPr/>
        </p:nvSpPr>
        <p:spPr>
          <a:xfrm>
            <a:off x="762000" y="3162300"/>
            <a:ext cx="47625" cy="523875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7" name="point-0-title"/>
          <p:cNvSpPr>
            <a:spLocks noGrp="1"/>
          </p:cNvSpPr>
          <p:nvPr/>
        </p:nvSpPr>
        <p:spPr>
          <a:xfrm>
            <a:off x="962025" y="3143250"/>
            <a:ext cx="3000375" cy="266700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48 × 78 × 18 mm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8" name="point-0-body"/>
          <p:cNvSpPr>
            <a:spLocks noGrp="1"/>
          </p:cNvSpPr>
          <p:nvPr/>
        </p:nvSpPr>
        <p:spPr>
          <a:xfrm>
            <a:off x="962025" y="3429000"/>
            <a:ext cx="3000375" cy="295275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1165">
                <a:solidFill>
                  <a:srgbClr val="B9C7D8"/>
                </a:solidFill>
              </a:defRPr>
            </a:pPr>
            <a:r>
              <a:rPr sz="1165">
                <a:solidFill>
                  <a:srgbClr val="B9C7D8"/>
                </a:solidFill>
              </a:rPr>
              <a:t>概念尺寸，接近随身记录器形态</a:t>
            </a:r>
            <a:endParaRPr sz="1165">
              <a:solidFill>
                <a:srgbClr val="B9C7D8"/>
              </a:solidFill>
            </a:endParaRPr>
          </a:p>
        </p:txBody>
      </p:sp>
      <p:sp>
        <p:nvSpPr>
          <p:cNvPr id="9" name="point-1-bar"/>
          <p:cNvSpPr>
            <a:spLocks noGrp="1"/>
          </p:cNvSpPr>
          <p:nvPr/>
        </p:nvSpPr>
        <p:spPr>
          <a:xfrm>
            <a:off x="762000" y="3962400"/>
            <a:ext cx="47625" cy="523875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0" name="point-1-title"/>
          <p:cNvSpPr>
            <a:spLocks noGrp="1"/>
          </p:cNvSpPr>
          <p:nvPr/>
        </p:nvSpPr>
        <p:spPr>
          <a:xfrm>
            <a:off x="962025" y="3943350"/>
            <a:ext cx="3000375" cy="266700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正面 + 侧面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1" name="point-1-body"/>
          <p:cNvSpPr>
            <a:spLocks noGrp="1"/>
          </p:cNvSpPr>
          <p:nvPr/>
        </p:nvSpPr>
        <p:spPr>
          <a:xfrm>
            <a:off x="962025" y="4229100"/>
            <a:ext cx="3000375" cy="295275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1165">
                <a:solidFill>
                  <a:srgbClr val="B9C7D8"/>
                </a:solidFill>
              </a:defRPr>
            </a:pPr>
            <a:r>
              <a:rPr sz="1165">
                <a:solidFill>
                  <a:srgbClr val="B9C7D8"/>
                </a:solidFill>
              </a:rPr>
              <a:t>录音、QR 模式与物理控制分层</a:t>
            </a:r>
            <a:endParaRPr sz="1165">
              <a:solidFill>
                <a:srgbClr val="B9C7D8"/>
              </a:solidFill>
            </a:endParaRPr>
          </a:p>
        </p:txBody>
      </p:sp>
      <p:sp>
        <p:nvSpPr>
          <p:cNvPr id="12" name="point-2-bar"/>
          <p:cNvSpPr>
            <a:spLocks noGrp="1"/>
          </p:cNvSpPr>
          <p:nvPr/>
        </p:nvSpPr>
        <p:spPr>
          <a:xfrm>
            <a:off x="762000" y="4762500"/>
            <a:ext cx="47625" cy="523875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13" name="point-2-title"/>
          <p:cNvSpPr>
            <a:spLocks noGrp="1"/>
          </p:cNvSpPr>
          <p:nvPr/>
        </p:nvSpPr>
        <p:spPr>
          <a:xfrm>
            <a:off x="962025" y="4743450"/>
            <a:ext cx="3000375" cy="266700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背夹 + 挂孔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4" name="point-2-body"/>
          <p:cNvSpPr>
            <a:spLocks noGrp="1"/>
          </p:cNvSpPr>
          <p:nvPr/>
        </p:nvSpPr>
        <p:spPr>
          <a:xfrm>
            <a:off x="962025" y="5029200"/>
            <a:ext cx="3000375" cy="295275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1165">
                <a:solidFill>
                  <a:srgbClr val="B9C7D8"/>
                </a:solidFill>
              </a:defRPr>
            </a:pPr>
            <a:r>
              <a:rPr sz="1165">
                <a:solidFill>
                  <a:srgbClr val="B9C7D8"/>
                </a:solidFill>
              </a:rPr>
              <a:t>支持口袋、衣领与挂绳使用场景</a:t>
            </a:r>
            <a:endParaRPr sz="1165">
              <a:solidFill>
                <a:srgbClr val="B9C7D8"/>
              </a:solidFill>
            </a:endParaRPr>
          </a:p>
        </p:txBody>
      </p:sp>
      <p:sp>
        <p:nvSpPr>
          <p:cNvPr id="15" name="image-frame"/>
          <p:cNvSpPr>
            <a:spLocks noGrp="1"/>
          </p:cNvSpPr>
          <p:nvPr/>
        </p:nvSpPr>
        <p:spPr>
          <a:xfrm>
            <a:off x="4362450" y="781050"/>
            <a:ext cx="7124700" cy="4905375"/>
          </a:xfrm>
          <a:prstGeom prst="rect">
            <a:avLst/>
          </a:prstGeom>
          <a:solidFill>
            <a:srgbClr val="F5F3EE"/>
          </a:solidFill>
          <a:ln w="11430">
            <a:solidFill>
              <a:srgbClr val="24405A"/>
            </a:solidFill>
            <a:prstDash val="solid"/>
          </a:ln>
        </p:spPr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9600" y="896937"/>
            <a:ext cx="7010400" cy="4673600"/>
          </a:xfrm>
          <a:prstGeom prst="rect">
            <a:avLst/>
          </a:prstGeom>
        </p:spPr>
      </p:pic>
      <p:sp>
        <p:nvSpPr>
          <p:cNvPr id="17" name="validation-note"/>
          <p:cNvSpPr>
            <a:spLocks noGrp="1"/>
          </p:cNvSpPr>
          <p:nvPr/>
        </p:nvSpPr>
        <p:spPr>
          <a:xfrm>
            <a:off x="762000" y="6048375"/>
            <a:ext cx="10668000" cy="266700"/>
          </a:xfrm>
          <a:prstGeom prst="rect">
            <a:avLst/>
          </a:prstGeom>
          <a:ln w="0">
            <a:noFill/>
            <a:prstDash val="solid"/>
          </a:ln>
        </p:spPr>
        <p:txBody>
          <a:bodyPr anchor="t"/>
          <a:lstStyle/>
          <a:p>
            <a:pPr algn="l">
              <a:defRPr sz="1015" i="1">
                <a:solidFill>
                  <a:srgbClr val="8294AA"/>
                </a:solidFill>
              </a:defRPr>
            </a:pPr>
            <a:r>
              <a:rPr sz="1015" i="1">
                <a:solidFill>
                  <a:srgbClr val="8294AA"/>
                </a:solidFill>
              </a:rPr>
              <a:t>概念渲染图用于外观、尺寸和结构沟通；最终 CMF、声学开孔与内部堆叠仍需真板验证。</a:t>
            </a:r>
            <a:endParaRPr sz="1015" i="1">
              <a:solidFill>
                <a:srgbClr val="8294A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可形成的壁垒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壁垒来自长期可验证的产品能力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硬件外壳、公版模型和“上链”本身不足以构成壁垒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920240"/>
            <a:ext cx="3520440" cy="182880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2029968"/>
            <a:ext cx="326440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12140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可审计的数据路径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450592"/>
            <a:ext cx="320954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从录音到恢复的每一步都能说明明文在哪里、谁能访问、失败后如何处理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4334256" y="1920240"/>
            <a:ext cx="3520440" cy="182880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4462272" y="2029968"/>
            <a:ext cx="326440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4517136" y="212140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跨版本恢复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517136" y="2450592"/>
            <a:ext cx="320954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钱包、链、合约和密文格式保持兼容，合约升级时能够识别旧域并安全迁移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7973568" y="1920240"/>
            <a:ext cx="3520440" cy="182880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>
            <a:spLocks noGrp="1"/>
          </p:cNvSpPr>
          <p:nvPr/>
        </p:nvSpPr>
        <p:spPr>
          <a:xfrm>
            <a:off x="8101584" y="2029968"/>
            <a:ext cx="326440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8156448" y="212140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端侧音频优化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156448" y="2450592"/>
            <a:ext cx="3209544" cy="117043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围绕真实麦克风、噪声、长录音、功耗和温升持续积累数据与工程经验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694944" y="4069080"/>
            <a:ext cx="5349240" cy="173736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>
            <a:spLocks noGrp="1"/>
          </p:cNvSpPr>
          <p:nvPr/>
        </p:nvSpPr>
        <p:spPr>
          <a:xfrm>
            <a:off x="822960" y="4178808"/>
            <a:ext cx="509320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877824" y="4270248"/>
            <a:ext cx="50383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用户可迁移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877824" y="4599432"/>
            <a:ext cx="5038344" cy="10789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录音、转写和密文支持导出与恢复，避免用封闭格式制造人为锁定。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24"/>
          <p:cNvSpPr>
            <a:spLocks noGrp="1"/>
          </p:cNvSpPr>
          <p:nvPr/>
        </p:nvSpPr>
        <p:spPr>
          <a:xfrm>
            <a:off x="6327648" y="4069080"/>
            <a:ext cx="5175504" cy="173736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>
            <a:spLocks noGrp="1"/>
          </p:cNvSpPr>
          <p:nvPr/>
        </p:nvSpPr>
        <p:spPr>
          <a:xfrm>
            <a:off x="6455664" y="4178808"/>
            <a:ext cx="4919472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8" name="Text 26"/>
          <p:cNvSpPr>
            <a:spLocks noGrp="1"/>
          </p:cNvSpPr>
          <p:nvPr/>
        </p:nvSpPr>
        <p:spPr>
          <a:xfrm>
            <a:off x="6510528" y="4270248"/>
            <a:ext cx="486460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长期优势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6510528" y="4599432"/>
            <a:ext cx="4864608" cy="10789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如果这些能力在多代硬件与软件中持续成立，信任、恢复成功率和真实语音数据集会比单一模型参数更难复制。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11F"/>
            </a:gs>
            <a:gs pos="68000">
              <a:srgbClr val="0B1B32"/>
            </a:gs>
            <a:gs pos="100000">
              <a:srgbClr val="102B3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57F2C1"/>
                </a:solidFill>
              </a:defRPr>
            </a:pPr>
            <a:r>
              <a:rPr sz="1090" b="1" i="0">
                <a:solidFill>
                  <a:srgbClr val="57F2C1"/>
                </a:solidFill>
                <a:latin typeface="Aptos"/>
                <a:ea typeface="Aptos"/>
                <a:cs typeface="Aptos"/>
              </a:rPr>
              <a:t>真机关键数据</a:t>
            </a:r>
            <a:endParaRPr sz="1090" b="1" i="0">
              <a:solidFill>
                <a:srgbClr val="57F2C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轻量模型适合默认交互，R2T2 保留质量对照</a:t>
            </a:r>
            <a:endParaRPr sz="345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9FB0C5"/>
                </a:solidFill>
              </a:defRPr>
            </a:pPr>
            <a:r>
              <a:rPr sz="1500" b="0" i="0">
                <a:solidFill>
                  <a:srgbClr val="9FB0C5"/>
                </a:solidFill>
                <a:latin typeface="Aptos"/>
                <a:ea typeface="Aptos"/>
                <a:cs typeface="Aptos"/>
              </a:rPr>
              <a:t>统一 6.74 秒音频、4 CPU 线程、每模型 3 轮</a:t>
            </a:r>
            <a:endParaRPr sz="1500" b="0" i="0">
              <a:solidFill>
                <a:srgbClr val="9FB0C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74520"/>
            <a:ext cx="2651760" cy="160020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41248" y="1984248"/>
            <a:ext cx="2359152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96112" y="2130552"/>
            <a:ext cx="22402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550" b="1" i="0">
                <a:solidFill>
                  <a:srgbClr val="7C63FF"/>
                </a:solidFill>
              </a:defRPr>
            </a:pPr>
            <a:r>
              <a:rPr sz="2550" b="1" i="0">
                <a:solidFill>
                  <a:srgbClr val="7C63FF"/>
                </a:solidFill>
                <a:latin typeface="Aptos Display"/>
                <a:ea typeface="Aptos Display"/>
                <a:cs typeface="Aptos Display"/>
              </a:rPr>
              <a:t>94ms</a:t>
            </a:r>
            <a:endParaRPr sz="2550" b="1" i="0">
              <a:solidFill>
                <a:srgbClr val="7C63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96112" y="2624328"/>
            <a:ext cx="22402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Paraformer 推理中位数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96112" y="2862072"/>
            <a:ext cx="2240280" cy="5212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RTF 0.014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最大 PSS 245MiB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3611880" y="1874520"/>
            <a:ext cx="2651760" cy="160020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Shape 14"/>
          <p:cNvSpPr>
            <a:spLocks noGrp="1"/>
          </p:cNvSpPr>
          <p:nvPr/>
        </p:nvSpPr>
        <p:spPr>
          <a:xfrm>
            <a:off x="3758184" y="1984248"/>
            <a:ext cx="2359152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3813048" y="2130552"/>
            <a:ext cx="22402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550" b="1" i="0">
                <a:solidFill>
                  <a:srgbClr val="47C8FF"/>
                </a:solidFill>
              </a:defRPr>
            </a:pPr>
            <a:r>
              <a:rPr sz="2550" b="1" i="0">
                <a:solidFill>
                  <a:srgbClr val="47C8FF"/>
                </a:solidFill>
                <a:latin typeface="Aptos Display"/>
                <a:ea typeface="Aptos Display"/>
                <a:cs typeface="Aptos Display"/>
              </a:rPr>
              <a:t>248ms</a:t>
            </a:r>
            <a:endParaRPr sz="2550" b="1" i="0">
              <a:solidFill>
                <a:srgbClr val="47C8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3813048" y="2624328"/>
            <a:ext cx="22402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SenseVoice 推理中位数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3813048" y="2862072"/>
            <a:ext cx="2240280" cy="5212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RTF 0.037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最大 PSS 430MiB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6528816" y="1874520"/>
            <a:ext cx="2651760" cy="160020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Shape 19"/>
          <p:cNvSpPr>
            <a:spLocks noGrp="1"/>
          </p:cNvSpPr>
          <p:nvPr/>
        </p:nvSpPr>
        <p:spPr>
          <a:xfrm>
            <a:off x="6675120" y="1984248"/>
            <a:ext cx="2359152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2" name="Text 20"/>
          <p:cNvSpPr>
            <a:spLocks noGrp="1"/>
          </p:cNvSpPr>
          <p:nvPr/>
        </p:nvSpPr>
        <p:spPr>
          <a:xfrm>
            <a:off x="6729984" y="2130552"/>
            <a:ext cx="22402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550" b="1" i="0">
                <a:solidFill>
                  <a:srgbClr val="FFB34A"/>
                </a:solidFill>
              </a:defRPr>
            </a:pPr>
            <a:r>
              <a:rPr sz="2550" b="1" i="0">
                <a:solidFill>
                  <a:srgbClr val="FFB34A"/>
                </a:solidFill>
                <a:latin typeface="Aptos Display"/>
                <a:ea typeface="Aptos Display"/>
                <a:cs typeface="Aptos Display"/>
              </a:rPr>
              <a:t>4.55s</a:t>
            </a:r>
            <a:endParaRPr sz="2550" b="1" i="0">
              <a:solidFill>
                <a:srgbClr val="FFB34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6729984" y="2624328"/>
            <a:ext cx="22402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R2T2 推理中位数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6729984" y="2862072"/>
            <a:ext cx="2240280" cy="5212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RTF 0.676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最大 PSS 2.98GiB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9445752" y="1874520"/>
            <a:ext cx="2057400" cy="160020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Shape 24"/>
          <p:cNvSpPr>
            <a:spLocks noGrp="1"/>
          </p:cNvSpPr>
          <p:nvPr/>
        </p:nvSpPr>
        <p:spPr>
          <a:xfrm>
            <a:off x="9592056" y="1984248"/>
            <a:ext cx="1764792" cy="36576"/>
          </a:xfrm>
          <a:prstGeom prst="rect">
            <a:avLst/>
          </a:prstGeom>
          <a:solidFill>
            <a:srgbClr val="57F2C1"/>
          </a:solidFill>
          <a:ln w="0">
            <a:noFill/>
            <a:prstDash val="solid"/>
          </a:ln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9646920" y="2130552"/>
            <a:ext cx="164592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550" b="1" i="0">
                <a:solidFill>
                  <a:srgbClr val="57F2C1"/>
                </a:solidFill>
              </a:defRPr>
            </a:pPr>
            <a:r>
              <a:rPr sz="2550" b="1" i="0">
                <a:solidFill>
                  <a:srgbClr val="57F2C1"/>
                </a:solidFill>
                <a:latin typeface="Aptos Display"/>
                <a:ea typeface="Aptos Display"/>
                <a:cs typeface="Aptos Display"/>
              </a:rPr>
              <a:t>5 分钟</a:t>
            </a:r>
            <a:endParaRPr sz="2550" b="1" i="0">
              <a:solidFill>
                <a:srgbClr val="57F2C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9646920" y="2624328"/>
            <a:ext cx="164592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完整长录音测试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Text 27"/>
          <p:cNvSpPr>
            <a:spLocks noGrp="1"/>
          </p:cNvSpPr>
          <p:nvPr/>
        </p:nvSpPr>
        <p:spPr>
          <a:xfrm>
            <a:off x="9646920" y="2862072"/>
            <a:ext cx="1645920" cy="52120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Paraformer 5.39s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R2T2 213.42s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Shape 28"/>
          <p:cNvSpPr>
            <a:spLocks noGrp="1"/>
          </p:cNvSpPr>
          <p:nvPr/>
        </p:nvSpPr>
        <p:spPr>
          <a:xfrm>
            <a:off x="694944" y="3931920"/>
            <a:ext cx="5212080" cy="17830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1" name="Shape 29"/>
          <p:cNvSpPr>
            <a:spLocks noGrp="1"/>
          </p:cNvSpPr>
          <p:nvPr/>
        </p:nvSpPr>
        <p:spPr>
          <a:xfrm>
            <a:off x="822960" y="4041648"/>
            <a:ext cx="495604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32" name="Text 30"/>
          <p:cNvSpPr>
            <a:spLocks noGrp="1"/>
          </p:cNvSpPr>
          <p:nvPr/>
        </p:nvSpPr>
        <p:spPr>
          <a:xfrm>
            <a:off x="877824" y="4133088"/>
            <a:ext cx="490118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工程判断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3" name="Text 31"/>
          <p:cNvSpPr>
            <a:spLocks noGrp="1"/>
          </p:cNvSpPr>
          <p:nvPr/>
        </p:nvSpPr>
        <p:spPr>
          <a:xfrm>
            <a:off x="877824" y="4462272"/>
            <a:ext cx="4901184" cy="11247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Paraformer 作为默认工程基线；SenseVoice用于多语对照；R2T2 不常驻内存。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Shape 32"/>
          <p:cNvSpPr>
            <a:spLocks noGrp="1"/>
          </p:cNvSpPr>
          <p:nvPr/>
        </p:nvSpPr>
        <p:spPr>
          <a:xfrm>
            <a:off x="6263640" y="3931920"/>
            <a:ext cx="5239512" cy="17830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5" name="Shape 33"/>
          <p:cNvSpPr>
            <a:spLocks noGrp="1"/>
          </p:cNvSpPr>
          <p:nvPr/>
        </p:nvSpPr>
        <p:spPr>
          <a:xfrm>
            <a:off x="6391656" y="4041648"/>
            <a:ext cx="4983480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36" name="Text 34"/>
          <p:cNvSpPr>
            <a:spLocks noGrp="1"/>
          </p:cNvSpPr>
          <p:nvPr/>
        </p:nvSpPr>
        <p:spPr>
          <a:xfrm>
            <a:off x="6446520" y="4133088"/>
            <a:ext cx="492861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仍待证明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6446520" y="4462272"/>
            <a:ext cx="4928616" cy="11247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独立标注集的 CER/WER、最终板功耗、持续温升、降频和整机续航。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竞品判断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差异不在“能否录音”，而在默认数据路径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竞品状态、价格和用户规模在正式路演前仍须重新核验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28800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1938528"/>
            <a:ext cx="317296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029968"/>
            <a:ext cx="311810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PLAUD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359152"/>
            <a:ext cx="3118104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原调研把它作为 AI note-taking 硬件参照；说明录音转写效率存在需求，但最新商业数据尚未复核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94944" y="3703320"/>
            <a:ext cx="342900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Shape 13"/>
          <p:cNvSpPr>
            <a:spLocks noGrp="1"/>
          </p:cNvSpPr>
          <p:nvPr/>
        </p:nvSpPr>
        <p:spPr>
          <a:xfrm>
            <a:off x="822960" y="3813048"/>
            <a:ext cx="317296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877824" y="3904488"/>
            <a:ext cx="311810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Limitless / Friend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877824" y="4233672"/>
            <a:ext cx="3118104" cy="94183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作为服务生命周期与云依赖的风险参照；不把历史资料直接写成当前市场结论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4480560" y="1828800"/>
            <a:ext cx="7022592" cy="3474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Shape 17"/>
          <p:cNvSpPr>
            <a:spLocks noGrp="1"/>
          </p:cNvSpPr>
          <p:nvPr/>
        </p:nvSpPr>
        <p:spPr>
          <a:xfrm>
            <a:off x="4608576" y="1938528"/>
            <a:ext cx="6766560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4663440" y="2029968"/>
            <a:ext cx="671169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Private Memo 的已实现差异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4663440" y="2359152"/>
            <a:ext cx="6711696" cy="2816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1. 本地录音、离线 ASR 与本地摘要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2. Provider 默认关闭，用户显式开启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3. 钱包私钥不进入设备或网页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4. 密文按钱包地址写入同一个合约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5. 原钱包可重新授权恢复记录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Text 20"/>
          <p:cNvSpPr>
            <a:spLocks noGrp="1"/>
          </p:cNvSpPr>
          <p:nvPr/>
        </p:nvSpPr>
        <p:spPr>
          <a:xfrm>
            <a:off x="676656" y="6181344"/>
            <a:ext cx="10881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940" b="0" i="1">
                <a:solidFill>
                  <a:srgbClr val="778399"/>
                </a:solidFill>
              </a:defRPr>
            </a:pPr>
            <a:r>
              <a:rPr sz="940" b="0" i="1">
                <a:solidFill>
                  <a:srgbClr val="778399"/>
                </a:solidFill>
                <a:latin typeface="Aptos"/>
                <a:ea typeface="Aptos"/>
                <a:cs typeface="Aptos"/>
              </a:rPr>
              <a:t>Sources: 调研报告归档快照；当前功能与真机数据见 Android README。</a:t>
            </a:r>
            <a:endParaRPr sz="940" b="0" i="1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为什么不是普通 AI 录音笔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首版差异已经体现在数据路径，而非未来概念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对比当前可交付能力，避免把 RAG、伴聊或数字分身写成现状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47088"/>
            <a:ext cx="2304288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1956816"/>
            <a:ext cx="2048256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048256"/>
            <a:ext cx="199339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比较维度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377440"/>
            <a:ext cx="1993392" cy="36393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默认推理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联网行为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密钥归属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设备丢失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产品形态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3246120" y="1847088"/>
            <a:ext cx="379476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Shape 13"/>
          <p:cNvSpPr>
            <a:spLocks noGrp="1"/>
          </p:cNvSpPr>
          <p:nvPr/>
        </p:nvSpPr>
        <p:spPr>
          <a:xfrm>
            <a:off x="3374136" y="1956816"/>
            <a:ext cx="353872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3429000" y="2048256"/>
            <a:ext cx="348386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普通 AI 录音产品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3429000" y="2377440"/>
            <a:ext cx="3483864" cy="36393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常见为云端转写与总结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录音上传后由服务处理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账号或平台控制访问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依赖服务端同步与账户恢复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硬件绑定云端服务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7287768" y="1847088"/>
            <a:ext cx="4215384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Shape 17"/>
          <p:cNvSpPr>
            <a:spLocks noGrp="1"/>
          </p:cNvSpPr>
          <p:nvPr/>
        </p:nvSpPr>
        <p:spPr>
          <a:xfrm>
            <a:off x="7415784" y="1956816"/>
            <a:ext cx="3959352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7470648" y="2048256"/>
            <a:ext cx="390448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Private Memo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7470648" y="2377440"/>
            <a:ext cx="3904488" cy="36393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内置 ASR 与 0.6B 摘要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默认离线；Provider 显式开启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钱包授权，设备保存加密凭据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原钱包读取链上密文并本地解密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APK 与独立硬件可共用协议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11F"/>
            </a:gs>
            <a:gs pos="68000">
              <a:srgbClr val="0B1B32"/>
            </a:gs>
            <a:gs pos="100000">
              <a:srgbClr val="102B3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9966960" y="-868680"/>
            <a:ext cx="3931920" cy="393192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9052560" y="137160"/>
            <a:ext cx="2103120" cy="210312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658368" y="365760"/>
            <a:ext cx="10972800" cy="18288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57F2C1"/>
                </a:solidFill>
              </a:defRPr>
            </a:pPr>
            <a:r>
              <a:rPr sz="1090" b="1" i="0">
                <a:solidFill>
                  <a:srgbClr val="57F2C1"/>
                </a:solidFill>
                <a:latin typeface="Aptos"/>
                <a:ea typeface="Aptos"/>
                <a:cs typeface="Aptos"/>
              </a:rPr>
              <a:t>钱包与静态网页</a:t>
            </a:r>
            <a:endParaRPr sz="1090" b="1" i="0">
              <a:solidFill>
                <a:srgbClr val="57F2C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imToken 提供授权与交易入口，网页承接跨设备协议</a:t>
            </a:r>
            <a:endParaRPr sz="315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9FB0C5"/>
                </a:solidFill>
              </a:defRPr>
            </a:pPr>
            <a:r>
              <a:rPr sz="1500" b="0" i="0">
                <a:solidFill>
                  <a:srgbClr val="9FB0C5"/>
                </a:solidFill>
                <a:latin typeface="Aptos"/>
                <a:ea typeface="Aptos"/>
                <a:cs typeface="Aptos"/>
              </a:rPr>
              <a:t>不集成 WalletConnect；所有设备共用自有 HTTPS 域名</a:t>
            </a:r>
            <a:endParaRPr sz="1500" b="0" i="0">
              <a:solidFill>
                <a:srgbClr val="9FB0C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749808" y="1874520"/>
            <a:ext cx="3429000" cy="40690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hape 8"/>
          <p:cNvSpPr>
            <a:spLocks noGrp="1"/>
          </p:cNvSpPr>
          <p:nvPr/>
        </p:nvSpPr>
        <p:spPr>
          <a:xfrm>
            <a:off x="877824" y="1984248"/>
            <a:ext cx="317296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932688" y="2075688"/>
            <a:ext cx="311810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私钥留在钱包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932688" y="2404872"/>
            <a:ext cx="3118104" cy="34107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配对签名和上链交易都由 imToken 确认；设备与静态网页不读取助记词或私钥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4379976" y="1874520"/>
            <a:ext cx="3429000" cy="40690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hape 12"/>
          <p:cNvSpPr>
            <a:spLocks noGrp="1"/>
          </p:cNvSpPr>
          <p:nvPr/>
        </p:nvSpPr>
        <p:spPr>
          <a:xfrm>
            <a:off x="4507992" y="1984248"/>
            <a:ext cx="317296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4562856" y="2075688"/>
            <a:ext cx="311810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静态网页可替换托管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4562856" y="2404872"/>
            <a:ext cx="3118104" cy="34107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Vercel 只是当前托管商。正式产品使用自有域名，并准备双托管和 DNS 切换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8010144" y="1874520"/>
            <a:ext cx="3429000" cy="40690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hape 16"/>
          <p:cNvSpPr>
            <a:spLocks noGrp="1"/>
          </p:cNvSpPr>
          <p:nvPr/>
        </p:nvSpPr>
        <p:spPr>
          <a:xfrm>
            <a:off x="8138160" y="1984248"/>
            <a:ext cx="317296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8193024" y="2075688"/>
            <a:ext cx="311810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一个合约服务多用户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8193024" y="2404872"/>
            <a:ext cx="3118104" cy="34107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合约按 msg.sender / owner 隔离索引；不同钱包与同一合约交互，但不能覆盖彼此记录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商业模型仍是假设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先验证用户愿意为何付费，再决定 APK 或硬件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旧版售价、BOM 与 76.5% 毛利均不足以作为经营预测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74520"/>
            <a:ext cx="35204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41248" y="1984248"/>
            <a:ext cx="3227832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96112" y="2130552"/>
            <a:ext cx="31089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400" b="1" i="0">
                <a:solidFill>
                  <a:srgbClr val="7C63FF"/>
                </a:solidFill>
              </a:defRPr>
            </a:pPr>
            <a:r>
              <a:rPr sz="2400" b="1" i="0">
                <a:solidFill>
                  <a:srgbClr val="7C63FF"/>
                </a:solidFill>
                <a:latin typeface="Aptos Display"/>
                <a:ea typeface="Aptos Display"/>
                <a:cs typeface="Aptos Display"/>
              </a:rPr>
              <a:t>双产品路径</a:t>
            </a:r>
            <a:endParaRPr sz="2400" b="1" i="0">
              <a:solidFill>
                <a:srgbClr val="7C63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96112" y="2624328"/>
            <a:ext cx="3108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"/>
                <a:ea typeface="Aptos"/>
                <a:cs typeface="Aptos"/>
              </a:rPr>
              <a:t>APK / 独立硬件</a:t>
            </a:r>
            <a:endParaRPr sz="1425" b="1" i="0">
              <a:solidFill>
                <a:srgbClr val="0C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Text 12"/>
          <p:cNvSpPr>
            <a:spLocks noGrp="1"/>
          </p:cNvSpPr>
          <p:nvPr/>
        </p:nvSpPr>
        <p:spPr>
          <a:xfrm>
            <a:off x="896112" y="2862072"/>
            <a:ext cx="3108960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同一协议与模型链路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先比较转化、留存和支持成本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hape 13"/>
          <p:cNvSpPr>
            <a:spLocks noGrp="1"/>
          </p:cNvSpPr>
          <p:nvPr/>
        </p:nvSpPr>
        <p:spPr>
          <a:xfrm>
            <a:off x="4334256" y="1874520"/>
            <a:ext cx="35204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Shape 14"/>
          <p:cNvSpPr>
            <a:spLocks noGrp="1"/>
          </p:cNvSpPr>
          <p:nvPr/>
        </p:nvSpPr>
        <p:spPr>
          <a:xfrm>
            <a:off x="4480560" y="1984248"/>
            <a:ext cx="3227832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7" name="Text 15"/>
          <p:cNvSpPr>
            <a:spLocks noGrp="1"/>
          </p:cNvSpPr>
          <p:nvPr/>
        </p:nvSpPr>
        <p:spPr>
          <a:xfrm>
            <a:off x="4535424" y="2130552"/>
            <a:ext cx="31089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400" b="1" i="0">
                <a:solidFill>
                  <a:srgbClr val="FFB34A"/>
                </a:solidFill>
              </a:defRPr>
            </a:pPr>
            <a:r>
              <a:rPr sz="2400" b="1" i="0">
                <a:solidFill>
                  <a:srgbClr val="FFB34A"/>
                </a:solidFill>
                <a:latin typeface="Aptos Display"/>
                <a:ea typeface="Aptos Display"/>
                <a:cs typeface="Aptos Display"/>
              </a:rPr>
              <a:t>价格待验证</a:t>
            </a:r>
            <a:endParaRPr sz="2400" b="1" i="0">
              <a:solidFill>
                <a:srgbClr val="FFB34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8" name="Text 16"/>
          <p:cNvSpPr>
            <a:spLocks noGrp="1"/>
          </p:cNvSpPr>
          <p:nvPr/>
        </p:nvSpPr>
        <p:spPr>
          <a:xfrm>
            <a:off x="4535424" y="2624328"/>
            <a:ext cx="3108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"/>
                <a:ea typeface="Aptos"/>
                <a:cs typeface="Aptos"/>
              </a:rPr>
              <a:t>不预设 $149–$199</a:t>
            </a:r>
            <a:endParaRPr sz="1425" b="1" i="0">
              <a:solidFill>
                <a:srgbClr val="0C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Text 17"/>
          <p:cNvSpPr>
            <a:spLocks noGrp="1"/>
          </p:cNvSpPr>
          <p:nvPr/>
        </p:nvSpPr>
        <p:spPr>
          <a:xfrm>
            <a:off x="4535424" y="2862072"/>
            <a:ext cx="3108960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通过真实支付测试软件价格、硬件溢价和一次性买断偏好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Shape 18"/>
          <p:cNvSpPr>
            <a:spLocks noGrp="1"/>
          </p:cNvSpPr>
          <p:nvPr/>
        </p:nvSpPr>
        <p:spPr>
          <a:xfrm>
            <a:off x="7973568" y="1874520"/>
            <a:ext cx="35204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Shape 19"/>
          <p:cNvSpPr>
            <a:spLocks noGrp="1"/>
          </p:cNvSpPr>
          <p:nvPr/>
        </p:nvSpPr>
        <p:spPr>
          <a:xfrm>
            <a:off x="8119872" y="1984248"/>
            <a:ext cx="3227832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2" name="Text 20"/>
          <p:cNvSpPr>
            <a:spLocks noGrp="1"/>
          </p:cNvSpPr>
          <p:nvPr/>
        </p:nvSpPr>
        <p:spPr>
          <a:xfrm>
            <a:off x="8174736" y="2130552"/>
            <a:ext cx="310896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2400" b="1" i="0">
                <a:solidFill>
                  <a:srgbClr val="57F2C1"/>
                </a:solidFill>
              </a:defRPr>
            </a:pPr>
            <a:r>
              <a:rPr sz="2400" b="1" i="0">
                <a:solidFill>
                  <a:srgbClr val="57F2C1"/>
                </a:solidFill>
                <a:latin typeface="Aptos Display"/>
                <a:ea typeface="Aptos Display"/>
                <a:cs typeface="Aptos Display"/>
              </a:rPr>
              <a:t>成本待实测</a:t>
            </a:r>
            <a:endParaRPr sz="2400" b="1" i="0">
              <a:solidFill>
                <a:srgbClr val="57F2C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3" name="Text 21"/>
          <p:cNvSpPr>
            <a:spLocks noGrp="1"/>
          </p:cNvSpPr>
          <p:nvPr/>
        </p:nvSpPr>
        <p:spPr>
          <a:xfrm>
            <a:off x="8174736" y="2624328"/>
            <a:ext cx="310896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"/>
                <a:ea typeface="Aptos"/>
                <a:cs typeface="Aptos"/>
              </a:rPr>
              <a:t>不预设 $35–$50 BOM</a:t>
            </a:r>
            <a:endParaRPr sz="1425" b="1" i="0">
              <a:solidFill>
                <a:srgbClr val="0C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Text 22"/>
          <p:cNvSpPr>
            <a:spLocks noGrp="1"/>
          </p:cNvSpPr>
          <p:nvPr/>
        </p:nvSpPr>
        <p:spPr>
          <a:xfrm>
            <a:off x="8174736" y="2862072"/>
            <a:ext cx="3108960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必须计入 PCB、结构、良率、认证、渠道、售后和云/RPC 运维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Shape 23"/>
          <p:cNvSpPr>
            <a:spLocks noGrp="1"/>
          </p:cNvSpPr>
          <p:nvPr/>
        </p:nvSpPr>
        <p:spPr>
          <a:xfrm>
            <a:off x="694944" y="4069080"/>
            <a:ext cx="35204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Shape 24"/>
          <p:cNvSpPr>
            <a:spLocks noGrp="1"/>
          </p:cNvSpPr>
          <p:nvPr/>
        </p:nvSpPr>
        <p:spPr>
          <a:xfrm>
            <a:off x="822960" y="4178808"/>
            <a:ext cx="326440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27" name="Text 25"/>
          <p:cNvSpPr>
            <a:spLocks noGrp="1"/>
          </p:cNvSpPr>
          <p:nvPr/>
        </p:nvSpPr>
        <p:spPr>
          <a:xfrm>
            <a:off x="877824" y="427024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收入 1：APK / 模型包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Text 26"/>
          <p:cNvSpPr>
            <a:spLocks noGrp="1"/>
          </p:cNvSpPr>
          <p:nvPr/>
        </p:nvSpPr>
        <p:spPr>
          <a:xfrm>
            <a:off x="877824" y="4599432"/>
            <a:ext cx="3209544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低交付成本验证需求，并覆盖更广 Android 设备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Shape 27"/>
          <p:cNvSpPr>
            <a:spLocks noGrp="1"/>
          </p:cNvSpPr>
          <p:nvPr/>
        </p:nvSpPr>
        <p:spPr>
          <a:xfrm>
            <a:off x="4334256" y="4069080"/>
            <a:ext cx="35204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0" name="Shape 28"/>
          <p:cNvSpPr>
            <a:spLocks noGrp="1"/>
          </p:cNvSpPr>
          <p:nvPr/>
        </p:nvSpPr>
        <p:spPr>
          <a:xfrm>
            <a:off x="4462272" y="4178808"/>
            <a:ext cx="326440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31" name="Text 29"/>
          <p:cNvSpPr>
            <a:spLocks noGrp="1"/>
          </p:cNvSpPr>
          <p:nvPr/>
        </p:nvSpPr>
        <p:spPr>
          <a:xfrm>
            <a:off x="4517136" y="427024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收入 2：独立硬件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2" name="Text 30"/>
          <p:cNvSpPr>
            <a:spLocks noGrp="1"/>
          </p:cNvSpPr>
          <p:nvPr/>
        </p:nvSpPr>
        <p:spPr>
          <a:xfrm>
            <a:off x="4517136" y="4599432"/>
            <a:ext cx="3209544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围绕隐私开关、麦克风、摄像头和安全存储形成完整体验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Shape 31"/>
          <p:cNvSpPr>
            <a:spLocks noGrp="1"/>
          </p:cNvSpPr>
          <p:nvPr/>
        </p:nvSpPr>
        <p:spPr>
          <a:xfrm>
            <a:off x="7973568" y="4069080"/>
            <a:ext cx="3520440" cy="1645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4" name="Shape 32"/>
          <p:cNvSpPr>
            <a:spLocks noGrp="1"/>
          </p:cNvSpPr>
          <p:nvPr/>
        </p:nvSpPr>
        <p:spPr>
          <a:xfrm>
            <a:off x="8101584" y="4178808"/>
            <a:ext cx="326440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35" name="Text 33"/>
          <p:cNvSpPr>
            <a:spLocks noGrp="1"/>
          </p:cNvSpPr>
          <p:nvPr/>
        </p:nvSpPr>
        <p:spPr>
          <a:xfrm>
            <a:off x="8156448" y="427024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收入 3：可选服务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6" name="Text 34"/>
          <p:cNvSpPr>
            <a:spLocks noGrp="1"/>
          </p:cNvSpPr>
          <p:nvPr/>
        </p:nvSpPr>
        <p:spPr>
          <a:xfrm>
            <a:off x="8156448" y="4599432"/>
            <a:ext cx="3209544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只为用户明确选择的托管、代付或 Provider 服务收费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Text 35"/>
          <p:cNvSpPr>
            <a:spLocks noGrp="1"/>
          </p:cNvSpPr>
          <p:nvPr/>
        </p:nvSpPr>
        <p:spPr>
          <a:xfrm>
            <a:off x="676656" y="6181344"/>
            <a:ext cx="108813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"/>
                <a:ea typeface="Aptos"/>
                <a:cs typeface="Aptos"/>
              </a:rPr>
              <a:t>阶段目标是得到可复核的单位经济模型，而不是提前承诺毛利。</a:t>
            </a:r>
            <a:endParaRPr sz="1425" b="1" i="0">
              <a:solidFill>
                <a:srgbClr val="0C182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下一轮验证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用 90 天把硬件、用户和恢复风险同时压缩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每个任务都对应明确的 go / no-go 证据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28800"/>
            <a:ext cx="3520440" cy="420624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1938528"/>
            <a:ext cx="326440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02996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硬件与模型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359152"/>
            <a:ext cx="3209544" cy="354787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Genio 700 与低功耗板跑同一 WAV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测 P50/P95、PSS、功耗、温升、降频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用人工标注集比较 CER/WER 和关键实体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验证相机扫码、麦克风与 Wi-Fi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4334256" y="1828800"/>
            <a:ext cx="3520440" cy="420624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4462272" y="1938528"/>
            <a:ext cx="326440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4517136" y="202996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用户与体验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517136" y="2359152"/>
            <a:ext cx="3209544" cy="354787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30 位目标用户完成真实记录任务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观察 7 日 / 30 日使用与删除行为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独立完成配对、提交和换机恢复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比较 APK 与硬件偏好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7973568" y="1828800"/>
            <a:ext cx="3520440" cy="420624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>
            <a:spLocks noGrp="1"/>
          </p:cNvSpPr>
          <p:nvPr/>
        </p:nvSpPr>
        <p:spPr>
          <a:xfrm>
            <a:off x="8101584" y="1938528"/>
            <a:ext cx="326440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8156448" y="202996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商业与运维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156448" y="2359152"/>
            <a:ext cx="3209544" cy="354787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20–30 笔真实支付验证价格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核算完整 BOM、售后与渠道成本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自有域名双托管与故障切换演练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形成下一阶段 go / no-go 结论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11F"/>
            </a:gs>
            <a:gs pos="68000">
              <a:srgbClr val="0B1B32"/>
            </a:gs>
            <a:gs pos="100000">
              <a:srgbClr val="102B3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57F2C1"/>
                </a:solidFill>
              </a:defRPr>
            </a:pPr>
            <a:r>
              <a:rPr sz="1090" b="1" i="0">
                <a:solidFill>
                  <a:srgbClr val="57F2C1"/>
                </a:solidFill>
                <a:latin typeface="Aptos"/>
                <a:ea typeface="Aptos"/>
                <a:cs typeface="Aptos"/>
              </a:rPr>
              <a:t>关键工程风险</a:t>
            </a:r>
            <a:endParaRPr sz="1090" b="1" i="0">
              <a:solidFill>
                <a:srgbClr val="57F2C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三项关键风险仍待真板与用户验证</a:t>
            </a:r>
            <a:endParaRPr sz="315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9FB0C5"/>
                </a:solidFill>
              </a:defRPr>
            </a:pPr>
            <a:r>
              <a:rPr sz="1500" b="0" i="0">
                <a:solidFill>
                  <a:srgbClr val="9FB0C5"/>
                </a:solidFill>
                <a:latin typeface="Aptos"/>
                <a:ea typeface="Aptos"/>
                <a:cs typeface="Aptos"/>
              </a:rPr>
              <a:t>这些风险已有测试方法，但尚未被当前手机实验消除</a:t>
            </a:r>
            <a:endParaRPr sz="1500" b="0" i="0">
              <a:solidFill>
                <a:srgbClr val="9FB0C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920240"/>
            <a:ext cx="3520440" cy="233172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2029968"/>
            <a:ext cx="326440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12140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风险 1：功耗与散热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450592"/>
            <a:ext cx="3209544" cy="1673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同一任务测待机、录音、轻量 ASR、R2T2 和摘要；记录平均/峰值功耗、温升与降频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4334256" y="1920240"/>
            <a:ext cx="3520440" cy="233172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Shape 13"/>
          <p:cNvSpPr>
            <a:spLocks noGrp="1"/>
          </p:cNvSpPr>
          <p:nvPr/>
        </p:nvSpPr>
        <p:spPr>
          <a:xfrm>
            <a:off x="4462272" y="2029968"/>
            <a:ext cx="326440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4517136" y="212140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风险 2：识别质量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517136" y="2450592"/>
            <a:ext cx="3209544" cy="1673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建立普通话、方言、中英混说、噪声、远场、金额和专名人工标注集，统计 CER/WER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7973568" y="1920240"/>
            <a:ext cx="3520440" cy="233172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Shape 17"/>
          <p:cNvSpPr>
            <a:spLocks noGrp="1"/>
          </p:cNvSpPr>
          <p:nvPr/>
        </p:nvSpPr>
        <p:spPr>
          <a:xfrm>
            <a:off x="8101584" y="2029968"/>
            <a:ext cx="326440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8156448" y="212140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风险 3：网页与凭据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156448" y="2450592"/>
            <a:ext cx="3209544" cy="1673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自有域名、CSP、最小发布权限、双托管；配对二维码继续增加短时有效与防重放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694944" y="4617720"/>
            <a:ext cx="10808208" cy="105156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Shape 21"/>
          <p:cNvSpPr>
            <a:spLocks noGrp="1"/>
          </p:cNvSpPr>
          <p:nvPr/>
        </p:nvSpPr>
        <p:spPr>
          <a:xfrm>
            <a:off x="822960" y="4727448"/>
            <a:ext cx="10552176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877824" y="4818888"/>
            <a:ext cx="104973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已有边界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877824" y="5148072"/>
            <a:ext cx="10497312" cy="3931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Android 证明 arm64 CPU 路径可运行；它没有证明最终开发板、电池、声学与量产安全已经达标。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开发板选择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从手机实测规格反推候选，不预设单一芯片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8GB arm64 是完整链路起点，低功耗板用于验证功能裁剪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920240"/>
            <a:ext cx="35204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2029968"/>
            <a:ext cx="326440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12140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Genio 700 EVK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450592"/>
            <a:ext cx="3209544" cy="1673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2×A78 + 6×A55 · 8GB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Android · Wi-Fi 6 · 双摄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最接近当前手机环境，优先验证完整 APK/JNI CPU 路径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4334256" y="1920240"/>
            <a:ext cx="35204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Shape 13"/>
          <p:cNvSpPr>
            <a:spLocks noGrp="1"/>
          </p:cNvSpPr>
          <p:nvPr/>
        </p:nvSpPr>
        <p:spPr>
          <a:xfrm>
            <a:off x="4462272" y="2029968"/>
            <a:ext cx="326440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4517136" y="212140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ZERO 3W 8GB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517136" y="2450592"/>
            <a:ext cx="3209544" cy="1673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4×A55 1.6GHz · Linux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5V/2A 供电规格 · MIPI CSI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探索 Paraformer / SenseVoice 下的功耗和体积下限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7973568" y="1920240"/>
            <a:ext cx="3520440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Shape 17"/>
          <p:cNvSpPr>
            <a:spLocks noGrp="1"/>
          </p:cNvSpPr>
          <p:nvPr/>
        </p:nvSpPr>
        <p:spPr>
          <a:xfrm>
            <a:off x="8101584" y="2029968"/>
            <a:ext cx="326440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8156448" y="2121408"/>
            <a:ext cx="32095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ROCK 4D 8GB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156448" y="2450592"/>
            <a:ext cx="3209544" cy="167335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4×A72 + 4×A53 · Android/Linux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LPDDR5 · Wi-Fi 6 · MIPI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作为 Rockchip 生态与供应选择的完整链路对照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Shape 20"/>
          <p:cNvSpPr>
            <a:spLocks noGrp="1"/>
          </p:cNvSpPr>
          <p:nvPr/>
        </p:nvSpPr>
        <p:spPr>
          <a:xfrm>
            <a:off x="694944" y="4617720"/>
            <a:ext cx="10808208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2E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Shape 21"/>
          <p:cNvSpPr>
            <a:spLocks noGrp="1"/>
          </p:cNvSpPr>
          <p:nvPr/>
        </p:nvSpPr>
        <p:spPr>
          <a:xfrm>
            <a:off x="822960" y="4727448"/>
            <a:ext cx="10552176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24" name="Text 22"/>
          <p:cNvSpPr>
            <a:spLocks noGrp="1"/>
          </p:cNvSpPr>
          <p:nvPr/>
        </p:nvSpPr>
        <p:spPr>
          <a:xfrm>
            <a:off x="877824" y="4818888"/>
            <a:ext cx="104973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选择规则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5" name="Text 23"/>
          <p:cNvSpPr>
            <a:spLocks noGrp="1"/>
          </p:cNvSpPr>
          <p:nvPr/>
        </p:nvSpPr>
        <p:spPr>
          <a:xfrm>
            <a:off x="877824" y="5148072"/>
            <a:ext cx="10497312" cy="3931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同一 WAV、模型版本与功耗仪表下比较。ROCK 5A 只做 R2T2 性能上限对照；最终采购由准确率、P95、功耗、温升和外设驱动共同决定。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路线图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300" b="1" i="0">
                <a:solidFill>
                  <a:srgbClr val="0C1828"/>
                </a:solidFill>
              </a:defRPr>
            </a:pPr>
            <a:r>
              <a:rPr sz="330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用真板和用户验证决定产品形态</a:t>
            </a:r>
            <a:endParaRPr sz="330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每一阶段都有可停止、可调整的门槛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28800"/>
            <a:ext cx="3493008" cy="397764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1938528"/>
            <a:ext cx="3236976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029968"/>
            <a:ext cx="31821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Phase 1 · 已完成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截至 2026-10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359152"/>
            <a:ext cx="3182112" cy="331927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Android 软件闭环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录音 / 播放 / 文件管理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三模型离线转写与长录音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0.6B 本地摘要与质量回退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钱包配对、提交、恢复协议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4334256" y="1828800"/>
            <a:ext cx="3493008" cy="397764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4462272" y="1938528"/>
            <a:ext cx="3236976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4517136" y="2029968"/>
            <a:ext cx="3182112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Phase 2 · 下一步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未来 8–12 周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4517136" y="2359152"/>
            <a:ext cx="3182112" cy="331927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双板与用户验证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完整链路板 + 低功耗板对照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标注集、功耗和温升测试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30 位用户完成记录与恢复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APK / 硬件价格实验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hape 16"/>
          <p:cNvSpPr>
            <a:spLocks noGrp="1"/>
          </p:cNvSpPr>
          <p:nvPr/>
        </p:nvSpPr>
        <p:spPr>
          <a:xfrm>
            <a:off x="7973568" y="1828800"/>
            <a:ext cx="3529584" cy="397764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>
            <a:spLocks noGrp="1"/>
          </p:cNvSpPr>
          <p:nvPr/>
        </p:nvSpPr>
        <p:spPr>
          <a:xfrm>
            <a:off x="8101584" y="1938528"/>
            <a:ext cx="3273552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20" name="Text 18"/>
          <p:cNvSpPr>
            <a:spLocks noGrp="1"/>
          </p:cNvSpPr>
          <p:nvPr/>
        </p:nvSpPr>
        <p:spPr>
          <a:xfrm>
            <a:off x="8156448" y="2029968"/>
            <a:ext cx="321868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Phase 3 · 通过门槛后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8156448" y="2359152"/>
            <a:ext cx="3218688" cy="331927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产品化与小批量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SoM / 定制 PCB 与最终声学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自有域名、生产合约与 RPC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安全启动、升级与回滚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4D5B70"/>
                </a:solidFill>
              </a:defRPr>
            </a:pPr>
            <a:r>
              <a:rPr sz="127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• 小批量试产和售后闭环</a:t>
            </a:r>
            <a:endParaRPr sz="127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7111F"/>
            </a:gs>
            <a:gs pos="68000">
              <a:srgbClr val="0B1B32"/>
            </a:gs>
            <a:gs pos="100000">
              <a:srgbClr val="102B3A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9966960" y="-868680"/>
            <a:ext cx="3931920" cy="393192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9052560" y="137160"/>
            <a:ext cx="2103120" cy="210312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658368" y="365760"/>
            <a:ext cx="10972800" cy="18288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24405A"/>
          </a:solidFill>
          <a:ln w="0">
            <a:noFill/>
            <a:prstDash val="solid"/>
          </a:ln>
        </p:spPr>
      </p:sp>
      <p:sp>
        <p:nvSpPr>
          <p:cNvPr id="6" name="Text 4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57F2C1"/>
                </a:solidFill>
              </a:defRPr>
            </a:pPr>
            <a:r>
              <a:rPr sz="1090" b="1" i="0">
                <a:solidFill>
                  <a:srgbClr val="57F2C1"/>
                </a:solidFill>
                <a:latin typeface="Aptos"/>
                <a:ea typeface="Aptos"/>
                <a:cs typeface="Aptos"/>
              </a:rPr>
              <a:t>当前决策与合作诉求</a:t>
            </a:r>
            <a:endParaRPr sz="1090" b="1" i="0">
              <a:solidFill>
                <a:srgbClr val="57F2C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Text 5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批准“真板 + 用户”联合验证，再决定量产路线</a:t>
            </a:r>
            <a:endParaRPr sz="3450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9FB0C5"/>
                </a:solidFill>
              </a:defRPr>
            </a:pPr>
            <a:r>
              <a:rPr sz="1500" b="0" i="0">
                <a:solidFill>
                  <a:srgbClr val="9FB0C5"/>
                </a:solidFill>
                <a:latin typeface="Aptos"/>
                <a:ea typeface="Aptos"/>
                <a:cs typeface="Aptos"/>
              </a:rPr>
              <a:t>目标是用一轮实验回答产品形态、硬件平台与付费意愿</a:t>
            </a:r>
            <a:endParaRPr sz="1500" b="0" i="0">
              <a:solidFill>
                <a:srgbClr val="9FB0C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hape 7"/>
          <p:cNvSpPr>
            <a:spLocks noGrp="1"/>
          </p:cNvSpPr>
          <p:nvPr/>
        </p:nvSpPr>
        <p:spPr>
          <a:xfrm>
            <a:off x="749808" y="1874520"/>
            <a:ext cx="3474720" cy="36118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Shape 8"/>
          <p:cNvSpPr>
            <a:spLocks noGrp="1"/>
          </p:cNvSpPr>
          <p:nvPr/>
        </p:nvSpPr>
        <p:spPr>
          <a:xfrm>
            <a:off x="877824" y="1984248"/>
            <a:ext cx="321868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1" name="Text 9"/>
          <p:cNvSpPr>
            <a:spLocks noGrp="1"/>
          </p:cNvSpPr>
          <p:nvPr/>
        </p:nvSpPr>
        <p:spPr>
          <a:xfrm>
            <a:off x="932688" y="2075688"/>
            <a:ext cx="316382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设备与测试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Text 10"/>
          <p:cNvSpPr>
            <a:spLocks noGrp="1"/>
          </p:cNvSpPr>
          <p:nvPr/>
        </p:nvSpPr>
        <p:spPr>
          <a:xfrm>
            <a:off x="932688" y="2404872"/>
            <a:ext cx="3163824" cy="29535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Genio 700 EVK 8GB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ZERO 3W 8GB / ROCK 4D 对照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功耗仪、麦克风、摄像头与小屏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hape 11"/>
          <p:cNvSpPr>
            <a:spLocks noGrp="1"/>
          </p:cNvSpPr>
          <p:nvPr/>
        </p:nvSpPr>
        <p:spPr>
          <a:xfrm>
            <a:off x="4352544" y="1874520"/>
            <a:ext cx="3474720" cy="36118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Shape 12"/>
          <p:cNvSpPr>
            <a:spLocks noGrp="1"/>
          </p:cNvSpPr>
          <p:nvPr/>
        </p:nvSpPr>
        <p:spPr>
          <a:xfrm>
            <a:off x="4480560" y="1984248"/>
            <a:ext cx="3218688" cy="36576"/>
          </a:xfrm>
          <a:prstGeom prst="rect">
            <a:avLst/>
          </a:prstGeom>
          <a:solidFill>
            <a:srgbClr val="47C8FF"/>
          </a:solidFill>
          <a:ln w="0">
            <a:noFill/>
            <a:prstDash val="solid"/>
          </a:ln>
        </p:spPr>
      </p:sp>
      <p:sp>
        <p:nvSpPr>
          <p:cNvPr id="15" name="Text 13"/>
          <p:cNvSpPr>
            <a:spLocks noGrp="1"/>
          </p:cNvSpPr>
          <p:nvPr/>
        </p:nvSpPr>
        <p:spPr>
          <a:xfrm>
            <a:off x="4535424" y="2075688"/>
            <a:ext cx="316382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工程协同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Text 14"/>
          <p:cNvSpPr>
            <a:spLocks noGrp="1"/>
          </p:cNvSpPr>
          <p:nvPr/>
        </p:nvSpPr>
        <p:spPr>
          <a:xfrm>
            <a:off x="4535424" y="2404872"/>
            <a:ext cx="3163824" cy="29535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Android / Linux ARM 移植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音频与热设计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安全元件、固件升级和可制造性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hape 15"/>
          <p:cNvSpPr>
            <a:spLocks noGrp="1"/>
          </p:cNvSpPr>
          <p:nvPr/>
        </p:nvSpPr>
        <p:spPr>
          <a:xfrm>
            <a:off x="7955280" y="1874520"/>
            <a:ext cx="3474720" cy="3611880"/>
          </a:xfrm>
          <a:prstGeom prst="roundRect">
            <a:avLst/>
          </a:prstGeom>
          <a:ln w="11430">
            <a:solidFill>
              <a:srgbClr val="24405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Shape 16"/>
          <p:cNvSpPr>
            <a:spLocks noGrp="1"/>
          </p:cNvSpPr>
          <p:nvPr/>
        </p:nvSpPr>
        <p:spPr>
          <a:xfrm>
            <a:off x="8083296" y="1984248"/>
            <a:ext cx="3218688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19" name="Text 17"/>
          <p:cNvSpPr>
            <a:spLocks noGrp="1"/>
          </p:cNvSpPr>
          <p:nvPr/>
        </p:nvSpPr>
        <p:spPr>
          <a:xfrm>
            <a:off x="8138160" y="2075688"/>
            <a:ext cx="316382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生态与上线</a:t>
            </a:r>
            <a:endParaRPr sz="1425" b="1" i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Text 18"/>
          <p:cNvSpPr>
            <a:spLocks noGrp="1"/>
          </p:cNvSpPr>
          <p:nvPr/>
        </p:nvSpPr>
        <p:spPr>
          <a:xfrm>
            <a:off x="8138160" y="2404872"/>
            <a:ext cx="3163824" cy="295351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自有域名静态页面审计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生产合约与正式 RPC 策略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275" b="0" i="0">
                <a:solidFill>
                  <a:srgbClr val="B9C7D8"/>
                </a:solidFill>
              </a:defRPr>
            </a:pPr>
            <a:r>
              <a:rPr sz="1275" b="0" i="0">
                <a:solidFill>
                  <a:srgbClr val="B9C7D8"/>
                </a:solidFill>
                <a:latin typeface="Aptos"/>
                <a:ea typeface="Aptos"/>
                <a:cs typeface="Aptos"/>
              </a:rPr>
              <a:t>imToken 扫码、签名、提交、恢复体验</a:t>
            </a:r>
            <a:endParaRPr sz="1275" b="0" i="0">
              <a:solidFill>
                <a:srgbClr val="B9C7D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 19"/>
          <p:cNvSpPr>
            <a:spLocks noGrp="1"/>
          </p:cNvSpPr>
          <p:nvPr/>
        </p:nvSpPr>
        <p:spPr>
          <a:xfrm>
            <a:off x="749808" y="5413248"/>
            <a:ext cx="102412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下一次 go / no-go：完整链路板达标、低功耗裁剪边界明确，并获得首批真实付费与恢复成功数据。</a:t>
            </a:r>
            <a:endParaRPr sz="1425" b="1" i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>
            <a:spLocks noGrp="1"/>
          </p:cNvSpPr>
          <p:nvPr/>
        </p:nvSpPr>
        <p:spPr>
          <a:xfrm>
            <a:off x="621792" y="347472"/>
            <a:ext cx="11018520" cy="18288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3" name="Shape 1"/>
          <p:cNvSpPr>
            <a:spLocks noGrp="1"/>
          </p:cNvSpPr>
          <p:nvPr/>
        </p:nvSpPr>
        <p:spPr>
          <a:xfrm>
            <a:off x="10561320" y="-292608"/>
            <a:ext cx="1691640" cy="169164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4" name="Shape 2"/>
          <p:cNvSpPr>
            <a:spLocks noGrp="1"/>
          </p:cNvSpPr>
          <p:nvPr/>
        </p:nvSpPr>
        <p:spPr>
          <a:xfrm>
            <a:off x="10012680" y="-164592"/>
            <a:ext cx="868680" cy="868680"/>
          </a:xfrm>
          <a:prstGeom prst="ellipse">
            <a:avLst/>
          </a:prstGeom>
          <a:ln w="0">
            <a:noFill/>
            <a:prstDash val="solid"/>
          </a:ln>
        </p:spPr>
      </p:sp>
      <p:sp>
        <p:nvSpPr>
          <p:cNvPr id="5" name="Shape 3"/>
          <p:cNvSpPr>
            <a:spLocks noGrp="1"/>
          </p:cNvSpPr>
          <p:nvPr/>
        </p:nvSpPr>
        <p:spPr>
          <a:xfrm>
            <a:off x="11686032" y="320040"/>
            <a:ext cx="54864" cy="5989320"/>
          </a:xfrm>
          <a:prstGeom prst="rect">
            <a:avLst/>
          </a:prstGeom>
          <a:solidFill>
            <a:srgbClr val="E0E4E9"/>
          </a:solidFill>
          <a:ln w="0">
            <a:noFill/>
            <a:prstDash val="solid"/>
          </a:ln>
        </p:spPr>
      </p:sp>
      <p:sp>
        <p:nvSpPr>
          <p:cNvPr id="6" name="Shape 4"/>
          <p:cNvSpPr>
            <a:spLocks noGrp="1"/>
          </p:cNvSpPr>
          <p:nvPr/>
        </p:nvSpPr>
        <p:spPr>
          <a:xfrm>
            <a:off x="658368" y="594360"/>
            <a:ext cx="438912" cy="27432"/>
          </a:xfrm>
          <a:prstGeom prst="rect">
            <a:avLst/>
          </a:prstGeom>
          <a:solidFill>
            <a:srgbClr val="CFD6DE"/>
          </a:solidFill>
          <a:ln w="0">
            <a:noFill/>
            <a:prstDash val="solid"/>
          </a:ln>
        </p:spPr>
      </p:sp>
      <p:sp>
        <p:nvSpPr>
          <p:cNvPr id="7" name="Text 5"/>
          <p:cNvSpPr>
            <a:spLocks noGrp="1"/>
          </p:cNvSpPr>
          <p:nvPr/>
        </p:nvSpPr>
        <p:spPr>
          <a:xfrm>
            <a:off x="1188720" y="475488"/>
            <a:ext cx="29260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090" b="1" i="0">
                <a:solidFill>
                  <a:srgbClr val="7C63FF"/>
                </a:solidFill>
              </a:defRPr>
            </a:pPr>
            <a:r>
              <a:rPr sz="1090" b="1" i="0">
                <a:solidFill>
                  <a:srgbClr val="7C63FF"/>
                </a:solidFill>
                <a:latin typeface="Aptos"/>
                <a:ea typeface="Aptos"/>
                <a:cs typeface="Aptos"/>
              </a:rPr>
              <a:t>Evidence Appendix</a:t>
            </a:r>
            <a:endParaRPr sz="1090" b="1" i="0">
              <a:solidFill>
                <a:srgbClr val="7C63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Text 6"/>
          <p:cNvSpPr>
            <a:spLocks noGrp="1"/>
          </p:cNvSpPr>
          <p:nvPr/>
        </p:nvSpPr>
        <p:spPr>
          <a:xfrm>
            <a:off x="658368" y="987552"/>
            <a:ext cx="10789920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3450" b="1" i="0">
                <a:solidFill>
                  <a:srgbClr val="0C1828"/>
                </a:solidFill>
              </a:defRPr>
            </a:pPr>
            <a:r>
              <a:rPr sz="3450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关键结论都能回到代码、真机结果或官方资料</a:t>
            </a:r>
            <a:endParaRPr sz="3450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9" name="Text 7"/>
          <p:cNvSpPr>
            <a:spLocks noGrp="1"/>
          </p:cNvSpPr>
          <p:nvPr/>
        </p:nvSpPr>
        <p:spPr>
          <a:xfrm>
            <a:off x="658368" y="1517904"/>
            <a:ext cx="1060704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500" b="0" i="0">
                <a:solidFill>
                  <a:srgbClr val="778399"/>
                </a:solidFill>
              </a:defRPr>
            </a:pPr>
            <a:r>
              <a:rPr sz="1500" b="0" i="0">
                <a:solidFill>
                  <a:srgbClr val="778399"/>
                </a:solidFill>
                <a:latin typeface="Aptos"/>
                <a:ea typeface="Aptos"/>
                <a:cs typeface="Aptos"/>
              </a:rPr>
              <a:t>本页用于会后核对，不把历史假设包装成已验证事实</a:t>
            </a:r>
            <a:endParaRPr sz="1500" b="0" i="0">
              <a:solidFill>
                <a:srgbClr val="7783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Shape 8"/>
          <p:cNvSpPr>
            <a:spLocks noGrp="1"/>
          </p:cNvSpPr>
          <p:nvPr/>
        </p:nvSpPr>
        <p:spPr>
          <a:xfrm>
            <a:off x="694944" y="1828800"/>
            <a:ext cx="5349240" cy="425196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>
            <a:spLocks noGrp="1"/>
          </p:cNvSpPr>
          <p:nvPr/>
        </p:nvSpPr>
        <p:spPr>
          <a:xfrm>
            <a:off x="822960" y="1938528"/>
            <a:ext cx="5093208" cy="36576"/>
          </a:xfrm>
          <a:prstGeom prst="rect">
            <a:avLst/>
          </a:prstGeom>
          <a:solidFill>
            <a:srgbClr val="7C63FF"/>
          </a:solidFill>
          <a:ln w="0">
            <a:noFill/>
            <a:prstDash val="solid"/>
          </a:ln>
        </p:spPr>
      </p:sp>
      <p:sp>
        <p:nvSpPr>
          <p:cNvPr id="12" name="Text 10"/>
          <p:cNvSpPr>
            <a:spLocks noGrp="1"/>
          </p:cNvSpPr>
          <p:nvPr/>
        </p:nvSpPr>
        <p:spPr>
          <a:xfrm>
            <a:off x="877824" y="2029968"/>
            <a:ext cx="5038344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项目内证据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Text 11"/>
          <p:cNvSpPr>
            <a:spLocks noGrp="1"/>
          </p:cNvSpPr>
          <p:nvPr/>
        </p:nvSpPr>
        <p:spPr>
          <a:xfrm>
            <a:off x="877824" y="2359152"/>
            <a:ext cx="5038344" cy="35935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1. 调研报告.md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- 产品边界、竞品假设、R2T2 许可与钱包研究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2. lab/android/README.md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- 架构、模型下载、Android 部署和硬件迁移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3. lab/android/results/device/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- 三模型基准、长录音、加密与二维码结果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4. web3/src/MemoryRegistry.sol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- owner 索引、事件与链上恢复协议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hape 12"/>
          <p:cNvSpPr>
            <a:spLocks noGrp="1"/>
          </p:cNvSpPr>
          <p:nvPr/>
        </p:nvSpPr>
        <p:spPr>
          <a:xfrm>
            <a:off x="6327648" y="1828800"/>
            <a:ext cx="5175504" cy="4251960"/>
          </a:xfrm>
          <a:prstGeom prst="roundRect">
            <a:avLst/>
          </a:prstGeom>
          <a:ln w="7620">
            <a:solidFill>
              <a:srgbClr val="E4E0D8"/>
            </a:solidFill>
            <a:prstDash val="solid"/>
          </a:ln>
          <a:effectLst>
            <a:outerShdw blurRad="63500" dist="15240" dir="162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>
            <a:spLocks noGrp="1"/>
          </p:cNvSpPr>
          <p:nvPr/>
        </p:nvSpPr>
        <p:spPr>
          <a:xfrm>
            <a:off x="6455664" y="1938528"/>
            <a:ext cx="4919472" cy="36576"/>
          </a:xfrm>
          <a:prstGeom prst="rect">
            <a:avLst/>
          </a:prstGeom>
          <a:solidFill>
            <a:srgbClr val="FFB34A"/>
          </a:solidFill>
          <a:ln w="0">
            <a:noFill/>
            <a:prstDash val="solid"/>
          </a:ln>
        </p:spPr>
      </p:sp>
      <p:sp>
        <p:nvSpPr>
          <p:cNvPr id="16" name="Text 14"/>
          <p:cNvSpPr>
            <a:spLocks noGrp="1"/>
          </p:cNvSpPr>
          <p:nvPr/>
        </p:nvSpPr>
        <p:spPr>
          <a:xfrm>
            <a:off x="6510528" y="2029968"/>
            <a:ext cx="4864608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l">
              <a:buNone/>
              <a:defRPr sz="1425" b="1" i="0">
                <a:solidFill>
                  <a:srgbClr val="0C1828"/>
                </a:solidFill>
              </a:defRPr>
            </a:pPr>
            <a:r>
              <a:rPr sz="1425" b="1" i="0">
                <a:solidFill>
                  <a:srgbClr val="0C1828"/>
                </a:solidFill>
                <a:latin typeface="Aptos Display"/>
                <a:ea typeface="Aptos Display"/>
                <a:cs typeface="Aptos Display"/>
              </a:rPr>
              <a:t>官方外部资料</a:t>
            </a:r>
            <a:endParaRPr sz="1425" b="1" i="0">
              <a:solidFill>
                <a:srgbClr val="0C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Text 15"/>
          <p:cNvSpPr>
            <a:spLocks noGrp="1"/>
          </p:cNvSpPr>
          <p:nvPr/>
        </p:nvSpPr>
        <p:spPr>
          <a:xfrm>
            <a:off x="6510528" y="2359152"/>
            <a:ext cx="4864608" cy="3593592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5. sherpa-onnx / SenseVoice / R2T2 官方仓库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- 模型能力、格式和许可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6. MediaTek Genio 700 官方文档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- CPU、8GB EVK、Android、相机与 Wi-Fi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7. Radxa ROCK 4D / ZERO 3W / ROCK 5A 官方资料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- CPU、内存、接口与供电要求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>
              <a:buNone/>
            </a:p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8. EIP-1193 / EIP-712 / imToken DApp SDK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  <a:p>
            <a:pPr marL="0" indent="0" algn="l">
              <a:buNone/>
              <a:defRPr sz="1165" b="0" i="0">
                <a:solidFill>
                  <a:srgbClr val="4D5B70"/>
                </a:solidFill>
              </a:defRPr>
            </a:pPr>
            <a:r>
              <a:rPr sz="1165" b="0" i="0">
                <a:solidFill>
                  <a:srgbClr val="4D5B70"/>
                </a:solidFill>
                <a:latin typeface="Aptos"/>
                <a:ea typeface="Aptos"/>
                <a:cs typeface="Aptos"/>
              </a:rPr>
              <a:t>- 钱包 Provider 与签名边界</a:t>
            </a:r>
            <a:endParaRPr sz="1165" b="0" i="0">
              <a:solidFill>
                <a:srgbClr val="4D5B70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5518</Words>
  <Application>WPS 演示</Application>
  <PresentationFormat>Converted Presentation</PresentationFormat>
  <Paragraphs>605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宋体</vt:lpstr>
      <vt:lpstr>Wingdings</vt:lpstr>
      <vt:lpstr>Arial</vt:lpstr>
      <vt:lpstr>Aptos Display</vt:lpstr>
      <vt:lpstr>Helvetica Neue</vt:lpstr>
      <vt:lpstr>Aptos</vt:lpstr>
      <vt:lpstr>宋体</vt:lpstr>
      <vt:lpstr>汉仪书宋二KW</vt:lpstr>
      <vt:lpstr>Calibri</vt:lpstr>
      <vt:lpstr>微软雅黑</vt:lpstr>
      <vt:lpstr>方正雅意黑 GB18030L2</vt:lpstr>
      <vt:lpstr>Arial Unicode MS</vt:lpstr>
      <vt:lpstr>等线</vt:lpstr>
      <vt:lpstr>汉仪中等线KW</vt:lpstr>
      <vt:lpstr>Aptos</vt:lpstr>
      <vt:lpstr>Aptos Display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刘建敏</cp:lastModifiedBy>
  <cp:revision>1</cp:revision>
  <dcterms:created xsi:type="dcterms:W3CDTF">2026-10-16T10:07:17Z</dcterms:created>
  <dcterms:modified xsi:type="dcterms:W3CDTF">2026-10-16T10:07:17Z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C9CA5409C7B5CB2955F7D16A28548E22_42</vt:lpwstr>
  </property>
  <property fmtid="{D5CDD505-2E9C-101B-9397-08002B2CF9AE}" pid="3" name="KSOProductBuildVer">
    <vt:lpwstr>2052-12.1.28496.28496</vt:lpwstr>
  </property>
</Properties>
</file>